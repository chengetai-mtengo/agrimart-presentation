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24e147258547a9" /><Relationship Type="http://schemas.openxmlformats.org/officeDocument/2006/relationships/extended-properties" Target="/docProps/app.xml" Id="Rce71418f6dc94c43" /><Relationship Type="http://schemas.openxmlformats.org/officeDocument/2006/relationships/officeDocument" Target="/ppt/presentation.xml" Id="R6b9edd06030544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f008979863418c"/>
  </p:sldMasterIdLst>
  <p:notesMasterIdLst>
    <p:notesMasterId xmlns:r="http://schemas.openxmlformats.org/officeDocument/2006/relationships" r:id="Rb19ca8851a7745cf"/>
  </p:notesMasterIdLst>
  <p:sldIdLst>
    <p:sldId xmlns:r="http://schemas.openxmlformats.org/officeDocument/2006/relationships" id="256" r:id="R02e6f3e18c5b4f17"/>
    <p:sldId xmlns:r="http://schemas.openxmlformats.org/officeDocument/2006/relationships" id="257" r:id="R05fda2de9dd3412a"/>
    <p:sldId xmlns:r="http://schemas.openxmlformats.org/officeDocument/2006/relationships" id="258" r:id="R9f477c19d4ce4549"/>
    <p:sldId xmlns:r="http://schemas.openxmlformats.org/officeDocument/2006/relationships" id="259" r:id="R66dc0fa6998d48aa"/>
    <p:sldId xmlns:r="http://schemas.openxmlformats.org/officeDocument/2006/relationships" id="260" r:id="R09464084dc524cd9"/>
    <p:sldId xmlns:r="http://schemas.openxmlformats.org/officeDocument/2006/relationships" id="261" r:id="Re89ae4615f8647b3"/>
    <p:sldId xmlns:r="http://schemas.openxmlformats.org/officeDocument/2006/relationships" id="262" r:id="R782651038f3c4ed3"/>
    <p:sldId xmlns:r="http://schemas.openxmlformats.org/officeDocument/2006/relationships" id="263" r:id="R771de11eb46a4939"/>
    <p:sldId xmlns:r="http://schemas.openxmlformats.org/officeDocument/2006/relationships" id="264" r:id="R576e8dcab779471e"/>
    <p:sldId xmlns:r="http://schemas.openxmlformats.org/officeDocument/2006/relationships" id="265" r:id="R3dceb3e0f2ff44d2"/>
    <p:sldId xmlns:r="http://schemas.openxmlformats.org/officeDocument/2006/relationships" id="266" r:id="R9459d31b1850412f"/>
    <p:sldId xmlns:r="http://schemas.openxmlformats.org/officeDocument/2006/relationships" id="267" r:id="R70942d3937e14fe7"/>
    <p:sldId xmlns:r="http://schemas.openxmlformats.org/officeDocument/2006/relationships" id="268" r:id="Rca333f0bbb6f469f"/>
    <p:sldId xmlns:r="http://schemas.openxmlformats.org/officeDocument/2006/relationships" id="269" r:id="R092edda8d0fb4dcf"/>
    <p:sldId xmlns:r="http://schemas.openxmlformats.org/officeDocument/2006/relationships" id="270" r:id="R73fc2b9e23304f87"/>
    <p:sldId xmlns:r="http://schemas.openxmlformats.org/officeDocument/2006/relationships" id="271" r:id="R6265eb2d4a0a4346"/>
    <p:sldId xmlns:r="http://schemas.openxmlformats.org/officeDocument/2006/relationships" id="272" r:id="R5e2b41a56b96419a"/>
    <p:sldId xmlns:r="http://schemas.openxmlformats.org/officeDocument/2006/relationships" id="273" r:id="R5c337c6cccfd4566"/>
    <p:sldId xmlns:r="http://schemas.openxmlformats.org/officeDocument/2006/relationships" id="274" r:id="R33d9485b5b9d4343"/>
    <p:sldId xmlns:r="http://schemas.openxmlformats.org/officeDocument/2006/relationships" id="275" r:id="R355df4ecd70f4fed"/>
    <p:sldId xmlns:r="http://schemas.openxmlformats.org/officeDocument/2006/relationships" id="276" r:id="Rf00b9bd6944d4dd5"/>
    <p:sldId xmlns:r="http://schemas.openxmlformats.org/officeDocument/2006/relationships" id="277" r:id="Rebfaf373d9c14a9b"/>
    <p:sldId xmlns:r="http://schemas.openxmlformats.org/officeDocument/2006/relationships" id="278" r:id="R892ba2c16925441b"/>
    <p:sldId xmlns:r="http://schemas.openxmlformats.org/officeDocument/2006/relationships" id="279" r:id="R135de1a773dc4b7b"/>
    <p:sldId xmlns:r="http://schemas.openxmlformats.org/officeDocument/2006/relationships" id="280" r:id="R13eb176edf2641a5"/>
    <p:sldId xmlns:r="http://schemas.openxmlformats.org/officeDocument/2006/relationships" id="281" r:id="Rbbd8ee0b4eb5459e"/>
    <p:sldId xmlns:r="http://schemas.openxmlformats.org/officeDocument/2006/relationships" id="282" r:id="R807844ac661748f3"/>
    <p:sldId xmlns:r="http://schemas.openxmlformats.org/officeDocument/2006/relationships" id="283" r:id="R0db7972eb5b84432"/>
    <p:sldId xmlns:r="http://schemas.openxmlformats.org/officeDocument/2006/relationships" id="284" r:id="R4997e1d6ad1940ac"/>
    <p:sldId xmlns:r="http://schemas.openxmlformats.org/officeDocument/2006/relationships" id="285" r:id="Rb28dd7bcd20d4a5d"/>
    <p:sldId xmlns:r="http://schemas.openxmlformats.org/officeDocument/2006/relationships" id="286" r:id="R86c6a49c69644416"/>
    <p:sldId xmlns:r="http://schemas.openxmlformats.org/officeDocument/2006/relationships" id="287" r:id="R014f307fece34625"/>
    <p:sldId xmlns:r="http://schemas.openxmlformats.org/officeDocument/2006/relationships" id="288" r:id="Rb9eaf0cd9929424f"/>
    <p:sldId xmlns:r="http://schemas.openxmlformats.org/officeDocument/2006/relationships" id="289" r:id="Ra4906f42e5e644de"/>
    <p:sldId xmlns:r="http://schemas.openxmlformats.org/officeDocument/2006/relationships" id="290" r:id="R55691e7ac44c4cc3"/>
    <p:sldId xmlns:r="http://schemas.openxmlformats.org/officeDocument/2006/relationships" id="291" r:id="Ra1719bddd98841ad"/>
    <p:sldId xmlns:r="http://schemas.openxmlformats.org/officeDocument/2006/relationships" id="292" r:id="Rfbf8939ce86746e7"/>
    <p:sldId xmlns:r="http://schemas.openxmlformats.org/officeDocument/2006/relationships" id="293" r:id="R439072ef8cb442cd"/>
    <p:sldId xmlns:r="http://schemas.openxmlformats.org/officeDocument/2006/relationships" id="294" r:id="R7895bf936eae414d"/>
    <p:sldId xmlns:r="http://schemas.openxmlformats.org/officeDocument/2006/relationships" id="295" r:id="R0e476d85342347b1"/>
    <p:sldId xmlns:r="http://schemas.openxmlformats.org/officeDocument/2006/relationships" id="296" r:id="Rf678381f76114032"/>
    <p:sldId xmlns:r="http://schemas.openxmlformats.org/officeDocument/2006/relationships" id="297" r:id="Re3cb27b2733c4369"/>
    <p:sldId xmlns:r="http://schemas.openxmlformats.org/officeDocument/2006/relationships" id="298" r:id="R15a997f4983f4fba"/>
    <p:sldId xmlns:r="http://schemas.openxmlformats.org/officeDocument/2006/relationships" id="299" r:id="Rc1fcfaaddb20485b"/>
    <p:sldId xmlns:r="http://schemas.openxmlformats.org/officeDocument/2006/relationships" id="300" r:id="R1a9c7365af40449c"/>
    <p:sldId xmlns:r="http://schemas.openxmlformats.org/officeDocument/2006/relationships" id="301" r:id="R7b634972498940c6"/>
    <p:sldId xmlns:r="http://schemas.openxmlformats.org/officeDocument/2006/relationships" id="302" r:id="Rbde8340c9c5e422f"/>
    <p:sldId xmlns:r="http://schemas.openxmlformats.org/officeDocument/2006/relationships" id="303" r:id="Re4654d59b6924788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4e2dc472c64cd0" /><Relationship Type="http://schemas.openxmlformats.org/officeDocument/2006/relationships/slideMaster" Target="/ppt/slideMasters/slideMaster1.xml" Id="Rccf008979863418c" /><Relationship Type="http://schemas.openxmlformats.org/officeDocument/2006/relationships/notesMaster" Target="/ppt/notesMasters/notesMaster1.xml" Id="Rb19ca8851a7745cf" /><Relationship Type="http://schemas.openxmlformats.org/officeDocument/2006/relationships/presProps" Target="/ppt/presProps.xml" Id="R978fa993690043d9" /><Relationship Type="http://schemas.openxmlformats.org/officeDocument/2006/relationships/viewProps" Target="/ppt/viewProps.xml" Id="R9f92aa8d49b34869" /><Relationship Type="http://schemas.openxmlformats.org/officeDocument/2006/relationships/tableStyles" Target="/ppt/tableStyles.xml" Id="R75c9aade921240e8" /><Relationship Type="http://schemas.openxmlformats.org/officeDocument/2006/relationships/slide" Target="/ppt/slides/slide1.xml" Id="R02e6f3e18c5b4f17" /><Relationship Type="http://schemas.openxmlformats.org/officeDocument/2006/relationships/slide" Target="/ppt/slides/slide2.xml" Id="R05fda2de9dd3412a" /><Relationship Type="http://schemas.openxmlformats.org/officeDocument/2006/relationships/slide" Target="/ppt/slides/slide3.xml" Id="R9f477c19d4ce4549" /><Relationship Type="http://schemas.openxmlformats.org/officeDocument/2006/relationships/slide" Target="/ppt/slides/slide4.xml" Id="R66dc0fa6998d48aa" /><Relationship Type="http://schemas.openxmlformats.org/officeDocument/2006/relationships/slide" Target="/ppt/slides/slide5.xml" Id="R09464084dc524cd9" /><Relationship Type="http://schemas.openxmlformats.org/officeDocument/2006/relationships/slide" Target="/ppt/slides/slide6.xml" Id="Re89ae4615f8647b3" /><Relationship Type="http://schemas.openxmlformats.org/officeDocument/2006/relationships/slide" Target="/ppt/slides/slide7.xml" Id="R782651038f3c4ed3" /><Relationship Type="http://schemas.openxmlformats.org/officeDocument/2006/relationships/slide" Target="/ppt/slides/slide8.xml" Id="R771de11eb46a4939" /><Relationship Type="http://schemas.openxmlformats.org/officeDocument/2006/relationships/slide" Target="/ppt/slides/slide9.xml" Id="R576e8dcab779471e" /><Relationship Type="http://schemas.openxmlformats.org/officeDocument/2006/relationships/slide" Target="/ppt/slides/slide10.xml" Id="R3dceb3e0f2ff44d2" /><Relationship Type="http://schemas.openxmlformats.org/officeDocument/2006/relationships/slide" Target="/ppt/slides/slide11.xml" Id="R9459d31b1850412f" /><Relationship Type="http://schemas.openxmlformats.org/officeDocument/2006/relationships/slide" Target="/ppt/slides/slide12.xml" Id="R70942d3937e14fe7" /><Relationship Type="http://schemas.openxmlformats.org/officeDocument/2006/relationships/slide" Target="/ppt/slides/slide13.xml" Id="Rca333f0bbb6f469f" /><Relationship Type="http://schemas.openxmlformats.org/officeDocument/2006/relationships/slide" Target="/ppt/slides/slide14.xml" Id="R092edda8d0fb4dcf" /><Relationship Type="http://schemas.openxmlformats.org/officeDocument/2006/relationships/slide" Target="/ppt/slides/slide15.xml" Id="R73fc2b9e23304f87" /><Relationship Type="http://schemas.openxmlformats.org/officeDocument/2006/relationships/slide" Target="/ppt/slides/slide16.xml" Id="R6265eb2d4a0a4346" /><Relationship Type="http://schemas.openxmlformats.org/officeDocument/2006/relationships/slide" Target="/ppt/slides/slide17.xml" Id="R5e2b41a56b96419a" /><Relationship Type="http://schemas.openxmlformats.org/officeDocument/2006/relationships/slide" Target="/ppt/slides/slide18.xml" Id="R5c337c6cccfd4566" /><Relationship Type="http://schemas.openxmlformats.org/officeDocument/2006/relationships/slide" Target="/ppt/slides/slide19.xml" Id="R33d9485b5b9d4343" /><Relationship Type="http://schemas.openxmlformats.org/officeDocument/2006/relationships/slide" Target="/ppt/slides/slide20.xml" Id="R355df4ecd70f4fed" /><Relationship Type="http://schemas.openxmlformats.org/officeDocument/2006/relationships/slide" Target="/ppt/slides/slide21.xml" Id="Rf00b9bd6944d4dd5" /><Relationship Type="http://schemas.openxmlformats.org/officeDocument/2006/relationships/slide" Target="/ppt/slides/slide22.xml" Id="Rebfaf373d9c14a9b" /><Relationship Type="http://schemas.openxmlformats.org/officeDocument/2006/relationships/slide" Target="/ppt/slides/slide23.xml" Id="R892ba2c16925441b" /><Relationship Type="http://schemas.openxmlformats.org/officeDocument/2006/relationships/slide" Target="/ppt/slides/slide24.xml" Id="R135de1a773dc4b7b" /><Relationship Type="http://schemas.openxmlformats.org/officeDocument/2006/relationships/slide" Target="/ppt/slides/slide25.xml" Id="R13eb176edf2641a5" /><Relationship Type="http://schemas.openxmlformats.org/officeDocument/2006/relationships/slide" Target="/ppt/slides/slide26.xml" Id="Rbbd8ee0b4eb5459e" /><Relationship Type="http://schemas.openxmlformats.org/officeDocument/2006/relationships/slide" Target="/ppt/slides/slide27.xml" Id="R807844ac661748f3" /><Relationship Type="http://schemas.openxmlformats.org/officeDocument/2006/relationships/slide" Target="/ppt/slides/slide28.xml" Id="R0db7972eb5b84432" /><Relationship Type="http://schemas.openxmlformats.org/officeDocument/2006/relationships/slide" Target="/ppt/slides/slide29.xml" Id="R4997e1d6ad1940ac" /><Relationship Type="http://schemas.openxmlformats.org/officeDocument/2006/relationships/slide" Target="/ppt/slides/slide30.xml" Id="Rb28dd7bcd20d4a5d" /><Relationship Type="http://schemas.openxmlformats.org/officeDocument/2006/relationships/slide" Target="/ppt/slides/slide31.xml" Id="R86c6a49c69644416" /><Relationship Type="http://schemas.openxmlformats.org/officeDocument/2006/relationships/slide" Target="/ppt/slides/slide32.xml" Id="R014f307fece34625" /><Relationship Type="http://schemas.openxmlformats.org/officeDocument/2006/relationships/slide" Target="/ppt/slides/slide33.xml" Id="Rb9eaf0cd9929424f" /><Relationship Type="http://schemas.openxmlformats.org/officeDocument/2006/relationships/slide" Target="/ppt/slides/slide34.xml" Id="Ra4906f42e5e644de" /><Relationship Type="http://schemas.openxmlformats.org/officeDocument/2006/relationships/slide" Target="/ppt/slides/slide35.xml" Id="R55691e7ac44c4cc3" /><Relationship Type="http://schemas.openxmlformats.org/officeDocument/2006/relationships/slide" Target="/ppt/slides/slide36.xml" Id="Ra1719bddd98841ad" /><Relationship Type="http://schemas.openxmlformats.org/officeDocument/2006/relationships/slide" Target="/ppt/slides/slide37.xml" Id="Rfbf8939ce86746e7" /><Relationship Type="http://schemas.openxmlformats.org/officeDocument/2006/relationships/slide" Target="/ppt/slides/slide38.xml" Id="R439072ef8cb442cd" /><Relationship Type="http://schemas.openxmlformats.org/officeDocument/2006/relationships/slide" Target="/ppt/slides/slide39.xml" Id="R7895bf936eae414d" /><Relationship Type="http://schemas.openxmlformats.org/officeDocument/2006/relationships/slide" Target="/ppt/slides/slide40.xml" Id="R0e476d85342347b1" /><Relationship Type="http://schemas.openxmlformats.org/officeDocument/2006/relationships/slide" Target="/ppt/slides/slide41.xml" Id="Rf678381f76114032" /><Relationship Type="http://schemas.openxmlformats.org/officeDocument/2006/relationships/slide" Target="/ppt/slides/slide42.xml" Id="Re3cb27b2733c4369" /><Relationship Type="http://schemas.openxmlformats.org/officeDocument/2006/relationships/slide" Target="/ppt/slides/slide43.xml" Id="R15a997f4983f4fba" /><Relationship Type="http://schemas.openxmlformats.org/officeDocument/2006/relationships/slide" Target="/ppt/slides/slide44.xml" Id="Rc1fcfaaddb20485b" /><Relationship Type="http://schemas.openxmlformats.org/officeDocument/2006/relationships/slide" Target="/ppt/slides/slide45.xml" Id="R1a9c7365af40449c" /><Relationship Type="http://schemas.openxmlformats.org/officeDocument/2006/relationships/slide" Target="/ppt/slides/slide46.xml" Id="R7b634972498940c6" /><Relationship Type="http://schemas.openxmlformats.org/officeDocument/2006/relationships/slide" Target="/ppt/slides/slide47.xml" Id="Rbde8340c9c5e422f" /><Relationship Type="http://schemas.openxmlformats.org/officeDocument/2006/relationships/slide" Target="/ppt/slides/slide48.xml" Id="Re4654d59b69247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0573e586b542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aeafd337c94d07" /><Relationship Type="http://schemas.openxmlformats.org/officeDocument/2006/relationships/notesMaster" Target="/ppt/notesMasters/notesMaster1.xml" Id="R25d57d66ca964e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1dde8a1e5145b4" /><Relationship Type="http://schemas.openxmlformats.org/officeDocument/2006/relationships/notesMaster" Target="/ppt/notesMasters/notesMaster1.xml" Id="Ra3093114a67d40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961660878e4695" /><Relationship Type="http://schemas.openxmlformats.org/officeDocument/2006/relationships/notesMaster" Target="/ppt/notesMasters/notesMaster1.xml" Id="Rb32c3520f34b4f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5f75da46d145ed" /><Relationship Type="http://schemas.openxmlformats.org/officeDocument/2006/relationships/notesMaster" Target="/ppt/notesMasters/notesMaster1.xml" Id="Rb9ea7cbd16534c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0460e1c1fb4615" /><Relationship Type="http://schemas.openxmlformats.org/officeDocument/2006/relationships/notesMaster" Target="/ppt/notesMasters/notesMaster1.xml" Id="Reada3bab4e9d4c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a22d7d80ff43df" /><Relationship Type="http://schemas.openxmlformats.org/officeDocument/2006/relationships/notesMaster" Target="/ppt/notesMasters/notesMaster1.xml" Id="Rdb54c2d12dcd4c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bd8034ce4b4946" /><Relationship Type="http://schemas.openxmlformats.org/officeDocument/2006/relationships/notesMaster" Target="/ppt/notesMasters/notesMaster1.xml" Id="R072a4fc9c8b34e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5a8507e5d042a3" /><Relationship Type="http://schemas.openxmlformats.org/officeDocument/2006/relationships/notesMaster" Target="/ppt/notesMasters/notesMaster1.xml" Id="Rb2e777ff330843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4aad9043014d84" /><Relationship Type="http://schemas.openxmlformats.org/officeDocument/2006/relationships/notesMaster" Target="/ppt/notesMasters/notesMaster1.xml" Id="Rcaeceb273f0f4d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d7603b129b4701" /><Relationship Type="http://schemas.openxmlformats.org/officeDocument/2006/relationships/notesMaster" Target="/ppt/notesMasters/notesMaster1.xml" Id="R6eeb93a157ac41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18b61ecf804902" /><Relationship Type="http://schemas.openxmlformats.org/officeDocument/2006/relationships/notesMaster" Target="/ppt/notesMasters/notesMaster1.xml" Id="Ra6c3fce1b45a41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e6ece7b1f64d31" /><Relationship Type="http://schemas.openxmlformats.org/officeDocument/2006/relationships/notesMaster" Target="/ppt/notesMasters/notesMaster1.xml" Id="R37c2769b75f946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2ddf79c456440b" /><Relationship Type="http://schemas.openxmlformats.org/officeDocument/2006/relationships/notesMaster" Target="/ppt/notesMasters/notesMaster1.xml" Id="R4d380847e4cb4d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ef128118544637" /><Relationship Type="http://schemas.openxmlformats.org/officeDocument/2006/relationships/notesMaster" Target="/ppt/notesMasters/notesMaster1.xml" Id="R6d5b2b777d0f42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ad186d1fd0640b2" /><Relationship Type="http://schemas.openxmlformats.org/officeDocument/2006/relationships/notesMaster" Target="/ppt/notesMasters/notesMaster1.xml" Id="Race00380a102460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b97647995a4349" /><Relationship Type="http://schemas.openxmlformats.org/officeDocument/2006/relationships/notesMaster" Target="/ppt/notesMasters/notesMaster1.xml" Id="Rca0a909a3dbf433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6270571c5674718" /><Relationship Type="http://schemas.openxmlformats.org/officeDocument/2006/relationships/notesMaster" Target="/ppt/notesMasters/notesMaster1.xml" Id="Rc098ff22d78a44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ed85d33931849a4" /><Relationship Type="http://schemas.openxmlformats.org/officeDocument/2006/relationships/notesMaster" Target="/ppt/notesMasters/notesMaster1.xml" Id="R855b31ba4c7442a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fe0e9f6efa4968" /><Relationship Type="http://schemas.openxmlformats.org/officeDocument/2006/relationships/notesMaster" Target="/ppt/notesMasters/notesMaster1.xml" Id="Ra292c4034b4543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663ef8f63ce409b" /><Relationship Type="http://schemas.openxmlformats.org/officeDocument/2006/relationships/notesMaster" Target="/ppt/notesMasters/notesMaster1.xml" Id="R34c26b57d5a847c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c685987e461409a" /><Relationship Type="http://schemas.openxmlformats.org/officeDocument/2006/relationships/notesMaster" Target="/ppt/notesMasters/notesMaster1.xml" Id="Rf1f750ba43e54f1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f9510e1619d4d8f" /><Relationship Type="http://schemas.openxmlformats.org/officeDocument/2006/relationships/notesMaster" Target="/ppt/notesMasters/notesMaster1.xml" Id="R88ba2fe2a8294d1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f579ef294564f5c" /><Relationship Type="http://schemas.openxmlformats.org/officeDocument/2006/relationships/notesMaster" Target="/ppt/notesMasters/notesMaster1.xml" Id="Rd423edf5cb3d460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91dddd426404ffe" /><Relationship Type="http://schemas.openxmlformats.org/officeDocument/2006/relationships/notesMaster" Target="/ppt/notesMasters/notesMaster1.xml" Id="R84c114258cdf4ab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06780c3d7b84bd8" /><Relationship Type="http://schemas.openxmlformats.org/officeDocument/2006/relationships/notesMaster" Target="/ppt/notesMasters/notesMaster1.xml" Id="R591b4ca44de3442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0baa5b5b2484d9c" /><Relationship Type="http://schemas.openxmlformats.org/officeDocument/2006/relationships/notesMaster" Target="/ppt/notesMasters/notesMaster1.xml" Id="R190d74edf01e4e5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6e30f200efa4cbc" /><Relationship Type="http://schemas.openxmlformats.org/officeDocument/2006/relationships/notesMaster" Target="/ppt/notesMasters/notesMaster1.xml" Id="R27fa1359b96248a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ea301899a164bf4" /><Relationship Type="http://schemas.openxmlformats.org/officeDocument/2006/relationships/notesMaster" Target="/ppt/notesMasters/notesMaster1.xml" Id="R436ba20f6fa1459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2e63e4c2dce49ed" /><Relationship Type="http://schemas.openxmlformats.org/officeDocument/2006/relationships/notesMaster" Target="/ppt/notesMasters/notesMaster1.xml" Id="R8886d90cbcf04a9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d9f410d311f41d1" /><Relationship Type="http://schemas.openxmlformats.org/officeDocument/2006/relationships/notesMaster" Target="/ppt/notesMasters/notesMaster1.xml" Id="R70290875a78f46f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24dbc474ea74937" /><Relationship Type="http://schemas.openxmlformats.org/officeDocument/2006/relationships/notesMaster" Target="/ppt/notesMasters/notesMaster1.xml" Id="R6a7dbba5ce8243e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ecc609281b344ff" /><Relationship Type="http://schemas.openxmlformats.org/officeDocument/2006/relationships/notesMaster" Target="/ppt/notesMasters/notesMaster1.xml" Id="R74af2364cef64a9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a7496ace5ed46c9" /><Relationship Type="http://schemas.openxmlformats.org/officeDocument/2006/relationships/notesMaster" Target="/ppt/notesMasters/notesMaster1.xml" Id="Rcf11ef509b0a4f6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c78088af6c94158" /><Relationship Type="http://schemas.openxmlformats.org/officeDocument/2006/relationships/notesMaster" Target="/ppt/notesMasters/notesMaster1.xml" Id="R703c0bfd9bce4be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1bc7090795a4207" /><Relationship Type="http://schemas.openxmlformats.org/officeDocument/2006/relationships/notesMaster" Target="/ppt/notesMasters/notesMaster1.xml" Id="Rdde6237ae30c49e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4348990b6af47cc" /><Relationship Type="http://schemas.openxmlformats.org/officeDocument/2006/relationships/notesMaster" Target="/ppt/notesMasters/notesMaster1.xml" Id="R8b5b1f22bf47494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0707bf2ee3c41ee" /><Relationship Type="http://schemas.openxmlformats.org/officeDocument/2006/relationships/notesMaster" Target="/ppt/notesMasters/notesMaster1.xml" Id="R27a5106070f5454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1c13ad0c14442da" /><Relationship Type="http://schemas.openxmlformats.org/officeDocument/2006/relationships/notesMaster" Target="/ppt/notesMasters/notesMaster1.xml" Id="Rbfba03bf52e4469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566bc0975bb4557" /><Relationship Type="http://schemas.openxmlformats.org/officeDocument/2006/relationships/notesMaster" Target="/ppt/notesMasters/notesMaster1.xml" Id="Rb35f45ba0b7b426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790e89c76a04fef" /><Relationship Type="http://schemas.openxmlformats.org/officeDocument/2006/relationships/notesMaster" Target="/ppt/notesMasters/notesMaster1.xml" Id="Raaaea7bf9cf444b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1c9281fe4e34cb0" /><Relationship Type="http://schemas.openxmlformats.org/officeDocument/2006/relationships/notesMaster" Target="/ppt/notesMasters/notesMaster1.xml" Id="R5736c2cc9dba4fd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b7eb1d8a4af4eea" /><Relationship Type="http://schemas.openxmlformats.org/officeDocument/2006/relationships/notesMaster" Target="/ppt/notesMasters/notesMaster1.xml" Id="R46f2ac30d45d463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e85753fcee34db1" /><Relationship Type="http://schemas.openxmlformats.org/officeDocument/2006/relationships/notesMaster" Target="/ppt/notesMasters/notesMaster1.xml" Id="R947baea2a27e46d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7d30c34d6a34e69" /><Relationship Type="http://schemas.openxmlformats.org/officeDocument/2006/relationships/notesMaster" Target="/ppt/notesMasters/notesMaster1.xml" Id="R272d111ddb514b8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32d7cc98bfc43e8" /><Relationship Type="http://schemas.openxmlformats.org/officeDocument/2006/relationships/notesMaster" Target="/ppt/notesMasters/notesMaster1.xml" Id="R9b8802312d55421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ec0b6d3589547de" /><Relationship Type="http://schemas.openxmlformats.org/officeDocument/2006/relationships/notesMaster" Target="/ppt/notesMasters/notesMaster1.xml" Id="Rbf529425971145c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4efc720da064875" /><Relationship Type="http://schemas.openxmlformats.org/officeDocument/2006/relationships/notesMaster" Target="/ppt/notesMasters/notesMaster1.xml" Id="Ra14346464dc3458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68b1940fa494bca" /><Relationship Type="http://schemas.openxmlformats.org/officeDocument/2006/relationships/notesMaster" Target="/ppt/notesMasters/notesMaster1.xml" Id="R0a59e10986064c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/home/jojo/Projects/mobile-and-web-application-for-agricultural-market-place/ml_service/README.md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/home/jojo/Projects/mobile-and-web-application-for-agricultural-market-place/ml_service/README.md</a:t>
            </a:r>
          </a:p>
          <a:p xmlns:a="http://schemas.openxmlformats.org/drawingml/2006/main">
            <a:r>
              <a:t>- /home/jojo/Desktop/AgriMart/AgriMart/agri-backend/README.md</a:t>
            </a:r>
          </a:p>
          <a:p xmlns:a="http://schemas.openxmlformats.org/drawingml/2006/main">
            <a:r>
              <a:t>- /home/jojo/Desktop/AgriMart/AgriMart/agrimart-frontend/README.md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/home/jojo/Projects/mobile-and-web-application-for-agricultural-market-place/ml_service/models/metadata.json</a:t>
            </a:r>
          </a:p>
          <a:p xmlns:a="http://schemas.openxmlformats.org/drawingml/2006/main">
            <a:r>
              <a:t>- /home/jojo/Projects/mobile-and-web-application-for-agricultural-market-place/ml_service/README.md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/home/jojo/Projects/mobile-and-web-application-for-agricultural-market-place/mobile/README.md</a:t>
            </a:r>
          </a:p>
          <a:p xmlns:a="http://schemas.openxmlformats.org/drawingml/2006/main">
            <a:r>
              <a:t>- /home/jojo/Desktop/AgriMart/AgriMart/agrimart-frontend/README.md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/home/jojo/Projects/mobile-and-web-application-for-agricultural-market-place/mobile/README.md</a:t>
            </a:r>
          </a:p>
          <a:p xmlns:a="http://schemas.openxmlformats.org/drawingml/2006/main">
            <a:r>
              <a:t>- /home/jojo/Desktop/AgriMart/AgriMart/agri-backend/README.md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/home/jojo/Desktop/AgriMart/AgriMart/agri-backend/README.md</a:t>
            </a:r>
          </a:p>
          <a:p xmlns:a="http://schemas.openxmlformats.org/drawingml/2006/main">
            <a:r>
              <a:t>- /home/jojo/Desktop/AgriMart/AgriMart/agrimart-frontend/README.md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/home/jojo/Desktop/AgriMart/AgriMart/agri-backend/db.sql</a:t>
            </a:r>
          </a:p>
          <a:p xmlns:a="http://schemas.openxmlformats.org/drawingml/2006/main">
            <a:r>
              <a:t>- /home/jojo/Desktop/AgriMart/AgriMart/agri-backend/README.md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/home/jojo/Projects/mobile-and-web-application-for-agricultural-market-place/mobile/README.md</a:t>
            </a:r>
          </a:p>
          <a:p xmlns:a="http://schemas.openxmlformats.org/drawingml/2006/main">
            <a:r>
              <a:t>- /home/jojo/Desktop/AgriMart/AgriMart/agrimart-frontend/README.md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/home/jojo/Projects/mobile-and-web-application-for-agricultural-market-place/ml_service/models/metadata.json</a:t>
            </a:r>
          </a:p>
          <a:p xmlns:a="http://schemas.openxmlformats.org/drawingml/2006/main">
            <a:r>
              <a:t>- /home/jojo/Projects/mobile-and-web-application-for-agricultural-market-place/ml_service/README.md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/home/jojo/Projects/mobile-and-web-application-for-agricultural-market-place/ml_service/README.md</a:t>
            </a:r>
          </a:p>
          <a:p xmlns:a="http://schemas.openxmlformats.org/drawingml/2006/main">
            <a:r>
              <a:t>- /home/jojo/Desktop/AgriMart/AgriMart/agri-backend/README.md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/home/jojo/Desktop/AgriMart/AgriMart/agri-backend/README.md</a:t>
            </a:r>
          </a:p>
          <a:p xmlns:a="http://schemas.openxmlformats.org/drawingml/2006/main">
            <a:r>
              <a:t>- /home/jojo/Desktop/AgriMart/AgriMart/agrimart-frontend/README.md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/home/jojo/Projects/mobile-and-web-application-for-agricultural-market-place/mobile/README.md</a:t>
            </a:r>
          </a:p>
          <a:p xmlns:a="http://schemas.openxmlformats.org/drawingml/2006/main">
            <a:r>
              <a:t>- /home/jojo/Projects/mobile-and-web-application-for-agricultural-market-place/ml_service/README.md</a:t>
            </a:r>
          </a:p>
          <a:p xmlns:a="http://schemas.openxmlformats.org/drawingml/2006/main">
            <a:r>
              <a:t>- /home/jojo/Desktop/AgriMart/AgriMart/agri-backend/README.md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/home/jojo/Projects/mobile-and-web-application-for-agricultural-market-place/mobile/README.md</a:t>
            </a:r>
          </a:p>
          <a:p xmlns:a="http://schemas.openxmlformats.org/drawingml/2006/main">
            <a:r>
              <a:t>- /home/jojo/Projects/mobile-and-web-application-for-agricultural-market-place/ml_service/README.md</a:t>
            </a:r>
          </a:p>
          <a:p xmlns:a="http://schemas.openxmlformats.org/drawingml/2006/main">
            <a:r>
              <a:t>- /home/jojo/Desktop/AgriMart/AgriMart/agrimart-frontend/README.md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/home/jojo/Desktop/AgriMart/AgriMart/agri-backend/src/__tests__/</a:t>
            </a:r>
          </a:p>
          <a:p xmlns:a="http://schemas.openxmlformats.org/drawingml/2006/main">
            <a:r>
              <a:t>- /home/jojo/Projects/mobile-and-web-application-for-agricultural-market-place/mobile/__tests__/</a:t>
            </a:r>
          </a:p>
          <a:p xmlns:a="http://schemas.openxmlformats.org/drawingml/2006/main">
            <a:r>
              <a:t>- /home/jojo/Projects/mobile-and-web-application-for-agricultural-market-place/ml_service/tests/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Local test execution on 17 October 2026</a:t>
            </a:r>
          </a:p>
          <a:p xmlns:a="http://schemas.openxmlformats.org/drawingml/2006/main">
            <a:r>
              <a:t>- /home/jojo/Desktop/AgriMart/AgriMart/agri-backend/src/__tests__/</a:t>
            </a:r>
          </a:p>
          <a:p xmlns:a="http://schemas.openxmlformats.org/drawingml/2006/main">
            <a:r>
              <a:t>- /home/jojo/Projects/mobile-and-web-application-for-agricultural-market-place/mobile/__tests__/</a:t>
            </a:r>
          </a:p>
          <a:p xmlns:a="http://schemas.openxmlformats.org/drawingml/2006/main">
            <a:r>
              <a:t>- /home/jojo/Projects/mobile-and-web-application-for-agricultural-market-place/ml_service/tests/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/home/jojo/Projects/mobile-and-web-application-for-agricultural-market-place/ml_service/models/metadata.json</a:t>
            </a:r>
          </a:p>
          <a:p xmlns:a="http://schemas.openxmlformats.org/drawingml/2006/main">
            <a:r>
              <a:t>- /home/jojo/Projects/mobile-and-web-application-for-agricultural-market-place/ml_service/reports/model_screening.csv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/home/jojo/Projects/mobile-and-web-application-for-agricultural-market-place/mobile/README.md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/home/jojo/Projects/mobile-and-web-application-for-agricultural-market-place/ml_service/README.md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/home/jojo/Projects/mobile-and-web-application-for-agricultural-market-place/ml_service/models/metadata.json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/home/jojo/Desktop/AgriMart/AgriMart/agri-backend/README.md</a:t>
            </a:r>
          </a:p>
          <a:p xmlns:a="http://schemas.openxmlformats.org/drawingml/2006/main">
            <a:r>
              <a:t>- /home/jojo/Desktop/AgriMart/AgriMart/agrimart-frontend/README.md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/home/jojo/Projects/mobile-and-web-application-for-agricultural-market-place/ml_service/models/metadata.json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/home/jojo/Projects/mobile-and-web-application-for-agricultural-market-place/ml_service/README.md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used for slide content:</a:t>
            </a:r>
          </a:p>
          <a:p xmlns:a="http://schemas.openxmlformats.org/drawingml/2006/main">
            <a:r>
              <a:t>- /home/jojo/Projects/mobile-and-web-application-for-agricultural-market-place/README.md</a:t>
            </a:r>
          </a:p>
          <a:p xmlns:a="http://schemas.openxmlformats.org/drawingml/2006/main">
            <a:r>
              <a:t>- /home/jojo/Documents/Year 4/CSC 4004 - Project/Mine/2021512967-CSC4004-PROPOSAL-SUPERVISOR.pdf</a:t>
            </a:r>
          </a:p>
          <a:p xmlns:a="http://schemas.openxmlformats.org/drawingml/2006/main">
            <a:r>
              <a:t>Claims reflect the supplied proposal and the current project repositories as inspected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e71d1b04b4d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87f604d3d34f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cbee6cfe645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e183ab51742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79c691a3b49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376b7ffd714c2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ba7c91bd57487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3aa89d6e841a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cf054576e4a8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c3c0f51d574e0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832f8ad1c43e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877F6E-088F-42B7-8368-50394F8D53C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C69BF50-6692-4D04-A852-2AA58F95B5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C2A194-18D7-4B04-B42E-40E55F03B9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7E93277-CEEE-4E56-B432-940C592EC5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E4F7BD-D12C-4960-BFED-AA483EA901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4A18F2-34CA-4F5B-9D20-978197F95F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A8B1BD2-AB73-430B-BFFF-03B88597AA1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8CC65A-40E5-4456-98FD-C586988011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D44346-3E32-4F28-969B-31852B8222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42DA13-D1F8-4C13-8BBF-2481A393BC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EFE50B-A29A-43F9-9AFA-8D1C75198E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A36B58-DCD9-4AA3-9F4C-D666570A3C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C959BBF-90C9-4CC0-83DB-1C3F8E41FA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0D2789-35F3-4F03-8B12-A2654B07CD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51A1CB-8023-41F4-ADE5-3F148F99C5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5F7ED8-4665-457C-BB32-3ADF1868A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F211ECB-FFA3-41B4-9316-CEE1BD476FD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AC46428-0665-4E2B-A8E5-7282729621E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E2D013B-EE18-47E0-863C-72D6376430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8E85C6C-D62C-4E29-A75F-0D4F86C415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3D7E066-B428-427F-8DE1-AA6B8F91E4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40EA7A-3B4D-4D8B-B049-73FBBD25C1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74329A8-284C-4FEA-8011-3ED9F52D46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0E5A25C-8EC1-43E4-9A6E-55130E6C4B9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D057927-53A6-4D26-BAB4-13D80BB9B5C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AF9C371-B3EA-4F1C-8A4E-24B9131A59C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DE832B3-4778-4723-B73C-4223C74098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B4246B7-7A2F-411B-9E52-24E0CE0B05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82E259F-1B80-4563-9FEB-5A19AEF53B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BE095C-CD43-41F9-A150-4740BECC7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B304EF3-31E9-4222-875C-1D1348CA74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45FCB4D-6321-4EDB-89AA-724F3FFBA8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C1AE515-4DAE-4C9F-8E23-8DB37A3364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10E9988-0600-468F-9C53-72EC6A1753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A8A34FF-C1AF-41AB-88D7-8316949D57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3381B0-7FA4-4201-A7C5-70F633DF9B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00E3F88-EFAE-4B1D-94B6-A4190B5CA7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654876-B06C-4FE8-BCEB-196F5FB44F4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70E45E2-F70A-4FD4-A297-A59E3D751F5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0743DA4-CFD1-4B43-BB8B-7C0027CBD1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5F13121-31C8-44EE-B29B-CC479C937D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5CEA027-2D20-4B61-9CD8-BC8471F70C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AAB672-4378-49B9-93A2-FC451B4F24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1DBB291-86D8-4DBC-8186-149AA130815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DA4720B-5B94-4D0D-9E9F-7973974ACE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9A26E61-3B3D-418F-B1AF-455174FC48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2FD71F4-1187-4FF0-A664-41D03CCDC6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A064A8E-9347-41C0-B43D-6DF18F330C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5B530-E269-4590-96B8-3917E9F8C0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09D1E05-2047-4103-9ABF-E3F4A3C04E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6D87245-D07D-4C99-9278-AB370F1CDF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18F844F-68FF-4D4C-8B00-3055E3CF3C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42F937-EED4-49F7-B1AD-2544DE8995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9391021-CC52-4CE8-BEEA-FDAB1BA52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D29FFB-C519-4D80-B492-F44CDE16BF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70EBBF-DC9D-4155-A81E-63B4954184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BD7497-4A99-41AF-BA98-133D190795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40936E-70F2-4B00-9E9A-4930B932F3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07ab20f7ad4049" /><Relationship Type="http://schemas.openxmlformats.org/officeDocument/2006/relationships/slideLayout" Target="/ppt/slideLayouts/slideLayout1.xml" Id="Rad2c2262ac3b4dff" /><Relationship Type="http://schemas.openxmlformats.org/officeDocument/2006/relationships/slideLayout" Target="/ppt/slideLayouts/slideLayout2.xml" Id="R14de2ed5908d41cb" /><Relationship Type="http://schemas.openxmlformats.org/officeDocument/2006/relationships/slideLayout" Target="/ppt/slideLayouts/slideLayout3.xml" Id="Rc74016c766fe4e4b" /><Relationship Type="http://schemas.openxmlformats.org/officeDocument/2006/relationships/slideLayout" Target="/ppt/slideLayouts/slideLayout4.xml" Id="R537acd13df1f461b" /><Relationship Type="http://schemas.openxmlformats.org/officeDocument/2006/relationships/slideLayout" Target="/ppt/slideLayouts/slideLayout5.xml" Id="R3e82e2bdd7ec4bc7" /><Relationship Type="http://schemas.openxmlformats.org/officeDocument/2006/relationships/slideLayout" Target="/ppt/slideLayouts/slideLayout6.xml" Id="Rd85538b47ba34862" /><Relationship Type="http://schemas.openxmlformats.org/officeDocument/2006/relationships/slideLayout" Target="/ppt/slideLayouts/slideLayout7.xml" Id="R24375014be2f49f9" /><Relationship Type="http://schemas.openxmlformats.org/officeDocument/2006/relationships/slideLayout" Target="/ppt/slideLayouts/slideLayout8.xml" Id="Radbfbd5dff6547a6" /><Relationship Type="http://schemas.openxmlformats.org/officeDocument/2006/relationships/slideLayout" Target="/ppt/slideLayouts/slideLayout9.xml" Id="Rbac6c2f78d0e4a36" /><Relationship Type="http://schemas.openxmlformats.org/officeDocument/2006/relationships/slideLayout" Target="/ppt/slideLayouts/slideLayout10.xml" Id="Rd9f41bfb4d714784" /><Relationship Type="http://schemas.openxmlformats.org/officeDocument/2006/relationships/slideLayout" Target="/ppt/slideLayouts/slideLayout11.xml" Id="Ra3580498bbed46e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771AFDB-7BC0-41B1-A5B2-C0A069145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636E361-5D5B-4440-9214-A994524787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227DE44-F78C-4773-B1D4-D2840D2C995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22-Sep-26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6D00-D0C3-4032-977D-A7268EC95DB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3340C7-63EF-494F-A430-47AD543D40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2c2262ac3b4dff"/>
    <p:sldLayoutId xmlns:r="http://schemas.openxmlformats.org/officeDocument/2006/relationships" id="2147483650" r:id="R14de2ed5908d41cb"/>
    <p:sldLayoutId xmlns:r="http://schemas.openxmlformats.org/officeDocument/2006/relationships" id="2147483651" r:id="Rc74016c766fe4e4b"/>
    <p:sldLayoutId xmlns:r="http://schemas.openxmlformats.org/officeDocument/2006/relationships" id="2147483652" r:id="R537acd13df1f461b"/>
    <p:sldLayoutId xmlns:r="http://schemas.openxmlformats.org/officeDocument/2006/relationships" id="2147483653" r:id="R3e82e2bdd7ec4bc7"/>
    <p:sldLayoutId xmlns:r="http://schemas.openxmlformats.org/officeDocument/2006/relationships" id="2147483654" r:id="Rd85538b47ba34862"/>
    <p:sldLayoutId xmlns:r="http://schemas.openxmlformats.org/officeDocument/2006/relationships" id="2147483655" r:id="R24375014be2f49f9"/>
    <p:sldLayoutId xmlns:r="http://schemas.openxmlformats.org/officeDocument/2006/relationships" id="2147483656" r:id="Radbfbd5dff6547a6"/>
    <p:sldLayoutId xmlns:r="http://schemas.openxmlformats.org/officeDocument/2006/relationships" id="2147483657" r:id="Rbac6c2f78d0e4a36"/>
    <p:sldLayoutId xmlns:r="http://schemas.openxmlformats.org/officeDocument/2006/relationships" id="2147483658" r:id="Rd9f41bfb4d714784"/>
    <p:sldLayoutId xmlns:r="http://schemas.openxmlformats.org/officeDocument/2006/relationships" id="2147483659" r:id="Ra3580498bbed46e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22d33895824c8e" /><Relationship Type="http://schemas.openxmlformats.org/officeDocument/2006/relationships/notesSlide" Target="/ppt/notesSlides/notesSlide1.xml" Id="R5c3e32a7507846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aacbb08190425a" /><Relationship Type="http://schemas.openxmlformats.org/officeDocument/2006/relationships/notesSlide" Target="/ppt/notesSlides/notesSlide2.xml" Id="R2cb97e226c2249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3eca8588974dec" /><Relationship Type="http://schemas.openxmlformats.org/officeDocument/2006/relationships/notesSlide" Target="/ppt/notesSlides/notesSlide3.xml" Id="R6e0f316864c444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5be42ed369437c" /><Relationship Type="http://schemas.openxmlformats.org/officeDocument/2006/relationships/notesSlide" Target="/ppt/notesSlides/notesSlide4.xml" Id="R291cad79860241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9494dfbdd64b4e" /><Relationship Type="http://schemas.openxmlformats.org/officeDocument/2006/relationships/notesSlide" Target="/ppt/notesSlides/notesSlide5.xml" Id="R1a88dba7afcb46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15d2f2558d454a" /><Relationship Type="http://schemas.openxmlformats.org/officeDocument/2006/relationships/notesSlide" Target="/ppt/notesSlides/notesSlide6.xml" Id="R3db571b1f92847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7f674eede6c4116" /><Relationship Type="http://schemas.openxmlformats.org/officeDocument/2006/relationships/notesSlide" Target="/ppt/notesSlides/notesSlide7.xml" Id="R8f76498197dc46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9663b7c16c4197" /><Relationship Type="http://schemas.openxmlformats.org/officeDocument/2006/relationships/notesSlide" Target="/ppt/notesSlides/notesSlide8.xml" Id="Rc1afbc48f96449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113cedd58241e8" /><Relationship Type="http://schemas.openxmlformats.org/officeDocument/2006/relationships/notesSlide" Target="/ppt/notesSlides/notesSlide9.xml" Id="Rf629f659ced346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976240c9e2404e" /><Relationship Type="http://schemas.openxmlformats.org/officeDocument/2006/relationships/notesSlide" Target="/ppt/notesSlides/notesSlide10.xml" Id="Rd1249f10392741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2b6b7dca404d18" /><Relationship Type="http://schemas.openxmlformats.org/officeDocument/2006/relationships/notesSlide" Target="/ppt/notesSlides/notesSlide11.xml" Id="Ra142bb5aec7349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5d9272a0654d64" /><Relationship Type="http://schemas.openxmlformats.org/officeDocument/2006/relationships/notesSlide" Target="/ppt/notesSlides/notesSlide12.xml" Id="R9b1cfa40e9b54a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ffe4cd196d46bc" /><Relationship Type="http://schemas.openxmlformats.org/officeDocument/2006/relationships/notesSlide" Target="/ppt/notesSlides/notesSlide13.xml" Id="R17af30703e4c42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351962d6eb4144" /><Relationship Type="http://schemas.openxmlformats.org/officeDocument/2006/relationships/notesSlide" Target="/ppt/notesSlides/notesSlide14.xml" Id="R5dfcb4be5deb46c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2175fdd7fc40b7" /><Relationship Type="http://schemas.openxmlformats.org/officeDocument/2006/relationships/notesSlide" Target="/ppt/notesSlides/notesSlide15.xml" Id="Rc516fa4e1e5a43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cb7a45a18a45b0" /><Relationship Type="http://schemas.openxmlformats.org/officeDocument/2006/relationships/notesSlide" Target="/ppt/notesSlides/notesSlide16.xml" Id="Ra7ed961a4e2945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e2f6a54de54f68" /><Relationship Type="http://schemas.openxmlformats.org/officeDocument/2006/relationships/notesSlide" Target="/ppt/notesSlides/notesSlide17.xml" Id="R085903dc36114a7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992db9b87a4aad" /><Relationship Type="http://schemas.openxmlformats.org/officeDocument/2006/relationships/notesSlide" Target="/ppt/notesSlides/notesSlide18.xml" Id="R3f958d2860a24a8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2ed710e78e44de" /><Relationship Type="http://schemas.openxmlformats.org/officeDocument/2006/relationships/notesSlide" Target="/ppt/notesSlides/notesSlide19.xml" Id="R8b702a886e69469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c49928e6504272" /><Relationship Type="http://schemas.openxmlformats.org/officeDocument/2006/relationships/notesSlide" Target="/ppt/notesSlides/notesSlide20.xml" Id="R6ad6401e9475420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38e1feef2546f2" /><Relationship Type="http://schemas.openxmlformats.org/officeDocument/2006/relationships/notesSlide" Target="/ppt/notesSlides/notesSlide21.xml" Id="Ref09f27bda99419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8a2cae8ee24e9d" /><Relationship Type="http://schemas.openxmlformats.org/officeDocument/2006/relationships/notesSlide" Target="/ppt/notesSlides/notesSlide22.xml" Id="R73f268b4c0c04aa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a42dfef3a64fa7" /><Relationship Type="http://schemas.openxmlformats.org/officeDocument/2006/relationships/notesSlide" Target="/ppt/notesSlides/notesSlide23.xml" Id="Rafeae3e72fe6476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522909acd94b4a" /><Relationship Type="http://schemas.openxmlformats.org/officeDocument/2006/relationships/notesSlide" Target="/ppt/notesSlides/notesSlide24.xml" Id="R6938a9f3431c490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d6a7795c8e4c85" /><Relationship Type="http://schemas.openxmlformats.org/officeDocument/2006/relationships/notesSlide" Target="/ppt/notesSlides/notesSlide25.xml" Id="R93a2133e03ed458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32c23439a94b99" /><Relationship Type="http://schemas.openxmlformats.org/officeDocument/2006/relationships/notesSlide" Target="/ppt/notesSlides/notesSlide26.xml" Id="Rd5b2d49a29df4c0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437a1154814593" /><Relationship Type="http://schemas.openxmlformats.org/officeDocument/2006/relationships/notesSlide" Target="/ppt/notesSlides/notesSlide27.xml" Id="R996f82abcbb2477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57b86b9cfa408a" /><Relationship Type="http://schemas.openxmlformats.org/officeDocument/2006/relationships/notesSlide" Target="/ppt/notesSlides/notesSlide28.xml" Id="Rb00175c4946949c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6b3334cad64123" /><Relationship Type="http://schemas.openxmlformats.org/officeDocument/2006/relationships/notesSlide" Target="/ppt/notesSlides/notesSlide29.xml" Id="R5a415c16e1484af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ea1041215643a4" /><Relationship Type="http://schemas.openxmlformats.org/officeDocument/2006/relationships/notesSlide" Target="/ppt/notesSlides/notesSlide30.xml" Id="R569071d4fd2b485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7baca58ce64d23" /><Relationship Type="http://schemas.openxmlformats.org/officeDocument/2006/relationships/notesSlide" Target="/ppt/notesSlides/notesSlide31.xml" Id="Rcdfe6e685ee2409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5559495e7b4153" /><Relationship Type="http://schemas.openxmlformats.org/officeDocument/2006/relationships/notesSlide" Target="/ppt/notesSlides/notesSlide32.xml" Id="R87713ea592e24b7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24b0a97bf5f42c1" /><Relationship Type="http://schemas.openxmlformats.org/officeDocument/2006/relationships/image" Target="/ppt/media/image.png" Id="R5920faf7d8454889" /><Relationship Type="http://schemas.openxmlformats.org/officeDocument/2006/relationships/notesSlide" Target="/ppt/notesSlides/notesSlide33.xml" Id="R62e4f6aa1a03489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40829006204963" /><Relationship Type="http://schemas.openxmlformats.org/officeDocument/2006/relationships/notesSlide" Target="/ppt/notesSlides/notesSlide34.xml" Id="R9bc75099dfe9422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ec89845cea4872" /><Relationship Type="http://schemas.openxmlformats.org/officeDocument/2006/relationships/notesSlide" Target="/ppt/notesSlides/notesSlide35.xml" Id="R769e1b891c1f467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e2a00ee27b4b8e" /><Relationship Type="http://schemas.openxmlformats.org/officeDocument/2006/relationships/notesSlide" Target="/ppt/notesSlides/notesSlide36.xml" Id="Rec68a88b84da4c3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66d8dbeeb048a5" /><Relationship Type="http://schemas.openxmlformats.org/officeDocument/2006/relationships/notesSlide" Target="/ppt/notesSlides/notesSlide37.xml" Id="R9c0a0dd58a77425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53f2fd920e4c36" /><Relationship Type="http://schemas.openxmlformats.org/officeDocument/2006/relationships/notesSlide" Target="/ppt/notesSlides/notesSlide38.xml" Id="Rbe1603291265472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483e6b33fd475e" /><Relationship Type="http://schemas.openxmlformats.org/officeDocument/2006/relationships/notesSlide" Target="/ppt/notesSlides/notesSlide39.xml" Id="R44b231c0f717499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e4a3451c2545af" /><Relationship Type="http://schemas.openxmlformats.org/officeDocument/2006/relationships/notesSlide" Target="/ppt/notesSlides/notesSlide40.xml" Id="Rd229e475f89b487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d6d5ed8755474b" /><Relationship Type="http://schemas.openxmlformats.org/officeDocument/2006/relationships/notesSlide" Target="/ppt/notesSlides/notesSlide41.xml" Id="R276d3b8052eb4a5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de177b4bfe4f44" /><Relationship Type="http://schemas.openxmlformats.org/officeDocument/2006/relationships/notesSlide" Target="/ppt/notesSlides/notesSlide42.xml" Id="Re743cc0a106141e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5d65c22f97496f" /><Relationship Type="http://schemas.openxmlformats.org/officeDocument/2006/relationships/notesSlide" Target="/ppt/notesSlides/notesSlide43.xml" Id="R9f256bc066ad458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4f44bd9f3d4963" /><Relationship Type="http://schemas.openxmlformats.org/officeDocument/2006/relationships/notesSlide" Target="/ppt/notesSlides/notesSlide44.xml" Id="R2b3ec69bdedb40b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54c87178374fe7" /><Relationship Type="http://schemas.openxmlformats.org/officeDocument/2006/relationships/notesSlide" Target="/ppt/notesSlides/notesSlide45.xml" Id="Re8eed34d070c485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4ff26fca9845cd" /><Relationship Type="http://schemas.openxmlformats.org/officeDocument/2006/relationships/notesSlide" Target="/ppt/notesSlides/notesSlide46.xml" Id="Rc0b8fa80c0be49f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4f90db7e124a4a" /><Relationship Type="http://schemas.openxmlformats.org/officeDocument/2006/relationships/notesSlide" Target="/ppt/notesSlides/notesSlide47.xml" Id="R716bfca58b9b412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0d3b92fff04788" /><Relationship Type="http://schemas.openxmlformats.org/officeDocument/2006/relationships/notesSlide" Target="/ppt/notesSlides/notesSlide48.xml" Id="R4a6f861f9dde43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2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5B06B14-CEBC-475A-BBAA-EC42A756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6424930" cy="1074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>
            <a:defPPr algn="ctr">
              <a:defRPr sz="32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32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MOBILE AND WEB APPLICATION FOR</a:t>
            </a:r>
          </a:p>
          <a:p xmlns:a="http://schemas.openxmlformats.org/drawingml/2006/main">
            <a:pPr algn="ctr">
              <a:buNone/>
              <a:defRPr sz="32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AGRICULTURAL MARKETPLACE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25182B4-8975-406E-AD6D-E3C3F59E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43250"/>
            <a:ext cx="3792855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>
            <a:defPPr algn="ctr">
              <a:defRPr sz="16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Presentation</a:t>
            </a:r>
            <a:endParaRPr/>
          </a:p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MWALE Jonathan • 2021512967</a:t>
            </a:r>
            <a:endParaRPr/>
          </a:p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Supervisor: Prof. J. Phiri</a:t>
            </a:r>
          </a:p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University of Zambia</a:t>
            </a:r>
          </a:p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Department of Computing and Informatics</a:t>
            </a:r>
          </a:p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2026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8D8FFF6-8946-4EA0-8ECB-B382E8E6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55BFC14-BD5C-4FCB-8C9C-61C9B447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0467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</a:t>
            </a:r>
          </a:p>
        </p:txBody>
      </p:sp>
    </p:spTree>
    <p:extLst>
      <p:ext uri="{BB962C8B-B14F-4D97-AF65-F5344CB8AC3E}">
        <p14:creationId xmlns:p14="http://schemas.microsoft.com/office/powerpoint/2010/main" val="6386047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F3845-7717-42AC-A00E-5D180B96FB7E}"/>
              </a:ext>
            </a:extLst>
          </p:cNvPr>
          <p:cNvCxnSpPr>
            <a:stCxn xmlns:a="http://schemas.openxmlformats.org/drawingml/2006/main" id="7" idx="6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571750" y="2667000"/>
            <a:ext cx="1476375" cy="2333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C930C-6FDB-478A-9E92-819343D37A80}"/>
              </a:ext>
            </a:extLst>
          </p:cNvPr>
          <p:cNvCxnSpPr>
            <a:stCxn xmlns:a="http://schemas.openxmlformats.org/drawingml/2006/main" id="7" idx="6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571750" y="2667000"/>
            <a:ext cx="1476375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C377A-A777-4137-BB43-F824FD50E3DC}"/>
              </a:ext>
            </a:extLst>
          </p:cNvPr>
          <p:cNvCxnSpPr>
            <a:stCxn xmlns:a="http://schemas.openxmlformats.org/drawingml/2006/main" id="7" idx="6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571750" y="1952625"/>
            <a:ext cx="1476375" cy="7143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CD2A40F-AFC1-4831-8CDC-6D69F78D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86283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Team Roles and Responsibilities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150473-CD8C-4CA4-B3C8-17334947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22AD947-606C-4937-84E5-BABD2FD4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0467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03CF1-DF28-4740-AB60-AB6AE4A6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28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2AAE3-E65C-4F6D-8FE0-3D78097F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MWALE Jonathan</a:t>
            </a:r>
          </a:p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2021512967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C6454-A169-4953-B002-04B17528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42875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Mobile application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Expo + React Native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1BE4E-1B21-41FD-B0DD-453FD2BE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5275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Price forecasting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FastAPI + XGBoost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ABBAB-89E1-467D-A64D-5A64A67F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47675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Integration and testing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Express API contracts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F0158-1689-4414-BB9F-E7A9426B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2762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 supervision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Prof. J. Phiri</a:t>
            </a:r>
          </a:p>
        </p:txBody>
      </p:sp>
    </p:spTree>
    <p:extLst>
      <p:ext uri="{BB962C8B-B14F-4D97-AF65-F5344CB8AC3E}">
        <p14:creationId xmlns:p14="http://schemas.microsoft.com/office/powerpoint/2010/main" val="17063338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76A5A53-40EC-4160-8E3C-8417060A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556318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Presentation Overview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FCDB1B-C6E2-4EF9-B48F-C18E32E8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1462218-42B9-4580-AC31-85856465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0467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EF494-15BC-407E-8090-2916CC35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6FE26-2E44-4A4D-89D5-F051CBF9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145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E7151-0F14-4B1C-ADCD-B961F979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240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C6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39A28-F523-4EEB-9E18-C81B38E9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66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77A07-74DB-445A-9C48-50BBA8B6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145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Related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A5820-2875-44D0-8C21-B221BBE3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240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C6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FA539-31A8-4BBE-8390-D1F6CF9D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66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54A110-9799-475A-B850-A26D04B5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145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Methodology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F3A28-BEAB-4D52-86D7-24DDF085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240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C6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FFF9B-747B-4102-B842-01CD3354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66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D8056-F9F1-4C46-B0FB-F7FDDABA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145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System 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B4D9E-A195-46B7-A3BC-3AA279C9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C6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F6565-A7D1-41D8-8D23-D23F5E3C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66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D59933-12E2-40BD-8753-43086071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145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Implementation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3C346-7A22-4E86-A883-369FBC4A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F8A21-A8A6-480C-894C-6CFE10DD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4100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Testing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EF3B10-72E2-471E-A176-0D1BF42C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195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C6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AF901E-CD81-4A71-B3BD-ADB9C9F2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62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9C277C-7E51-4E13-9216-C5A3DE8A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100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Discussion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0BCEF0-FBDA-42D7-AA4B-5C16AA1A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195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C6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3C8D00-C9B0-419A-B054-B6BF4012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62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A72D4A-B3AF-48E6-A7E0-0C48C9F4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100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Contributions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4D5F2E-E2DF-43C7-819E-A19BE3CB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195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C6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856972-A02B-4D5A-B4F7-7AF23417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62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AA44A1-9F44-4D89-B86F-9BA128B5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100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5B105E-4381-4EF4-8C92-F77F2CEB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195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C6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2C0E22-1196-4FC9-B9C5-89ED0101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62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8592CD-629A-4021-B8A5-31499DB9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100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429700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B23E3-0A50-4F69-85A7-761D2FBDE99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53250" y="3190875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A9FEC-9EA2-44DC-AEB4-D6097B9F579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05125" y="319087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91A1F35-9AAF-4429-8475-6620A97D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79603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Background and Context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DFA723-66A3-47D6-8E74-80764C0A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F17993A-D6ED-421A-8CE6-36B1AB4C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0467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6306E-FB1E-4A39-86AE-6E26B19C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2000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Smallholder</a:t>
            </a:r>
          </a:p>
          <a:p xmlns:a="http://schemas.openxmlformats.org/drawingml/2006/main">
            <a:pPr algn="ctr">
              <a:defRPr sz="1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farmer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40592-B0AD-43F8-A7C2-07B63115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95500"/>
            <a:ext cx="2952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6E8E8"/>
          </a:solidFill>
          <a:ln xmlns:a="http://schemas.openxmlformats.org/drawingml/2006/main" w="14288">
            <a:solidFill>
              <a:srgbClr val="9A4F4F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Fragmented market</a:t>
            </a:r>
          </a:p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Intermediaries</a:t>
            </a:r>
          </a:p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Unclear prices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4B5CC-6193-4BDF-96AC-15B451A2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71750"/>
            <a:ext cx="22383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Consumer or</a:t>
            </a:r>
          </a:p>
          <a:p xmlns:a="http://schemas.openxmlformats.org/drawingml/2006/main">
            <a:pPr algn="ctr">
              <a:defRPr sz="1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large buyer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FEC77-0D12-4506-8D68-C50AD478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6250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20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Zambia needs direct market access plus reliable price information</a:t>
            </a:r>
          </a:p>
        </p:txBody>
      </p:sp>
    </p:spTree>
    <p:extLst>
      <p:ext uri="{BB962C8B-B14F-4D97-AF65-F5344CB8AC3E}">
        <p14:creationId xmlns:p14="http://schemas.microsoft.com/office/powerpoint/2010/main" val="66699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27E4320-A58E-43EC-9420-2E0580BB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048317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6FB7369-579F-4530-9DE3-1223B673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BA21276-519B-4C29-8DC9-21FAFF35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0467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1F777-7FCA-4A53-BBBA-2C5DCDC7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257800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D80C7-5186-477C-85AE-BCB743D6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483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875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4F4F"/>
                </a:solidFill>
                <a:latin typeface="Calibri"/>
                <a:ea typeface="Calibri"/>
                <a:cs typeface="Calibri"/>
              </a:rPr>
              <a:t>Market access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97411-0198-4499-95A5-99EF05F6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F4F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D87FD-0568-4FED-A85B-6AA0A262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383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Dependence on intermediaries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8E27B-E93E-4C0C-A9A1-9336E4FE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F4F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47140-7E68-4807-B334-8CCADA4B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Lower farmer margins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9A825-619E-4104-93FC-5BF1044F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F4F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5E87B-4007-4988-B1F1-063C465D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861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Hard-to-find suppliers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2FB0E-D42D-4429-875F-7A7B1A13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F4F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9BF5C0-6DD0-4DEF-BEF4-CB7966C9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00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Slow price comparison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F7764-1DED-4341-9038-4CD22FF1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5257800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7FA27A-BB57-4E39-A23F-D0BD8E0E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83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DD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875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B68432"/>
                </a:solidFill>
                <a:latin typeface="Calibri"/>
                <a:ea typeface="Calibri"/>
                <a:cs typeface="Calibri"/>
              </a:rPr>
              <a:t>Information gap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121F2-995D-4B9C-B821-02302E29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BF55F5-E17E-4549-8371-91D2297B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383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Uncertain selling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FEA895-BACC-469B-9160-711CC328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28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F4FB9-6DF6-4C15-8959-6AD1A0D4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622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Volatile commodity prices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8955EF-2B5D-4D48-B63D-99F86F33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6A75D9-B01D-4477-8CD8-CD8A588E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861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Limited future insight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58CA21-8AE0-4848-99AA-6BF045B7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76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6CE55-0E60-43B6-9258-480000B2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100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Separate tools for each need</a:t>
            </a:r>
          </a:p>
        </p:txBody>
      </p:sp>
    </p:spTree>
    <p:extLst>
      <p:ext uri="{BB962C8B-B14F-4D97-AF65-F5344CB8AC3E}">
        <p14:creationId xmlns:p14="http://schemas.microsoft.com/office/powerpoint/2010/main" val="16113189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9B169-8942-43CE-B9D6-0F8EB917C22E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 flipV="1">
            <a:off x="6896100" y="3524250"/>
            <a:ext cx="167640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59CAA-4654-4999-8E82-27B7103F9644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>
            <a:off x="6896100" y="1952625"/>
            <a:ext cx="167640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CC8E9-3336-42F6-8115-863D37D4EB8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3048000" y="3524250"/>
            <a:ext cx="184785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AB2D3-7A3B-469F-824A-C96ED7B8E69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3048000" y="1952625"/>
            <a:ext cx="184785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E3FF666-F033-4926-AA59-AF6C17AF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90055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Project Aim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E6533EF-656B-4A66-A677-6FD59717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B6DA025-27FB-45E4-B1CB-23F8B4DF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0467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22476-4394-4A53-B57E-D511EE3B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2412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AgriMart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CE213-4377-4E3C-99A9-A07113E5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Nearby suppliers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43622-EB3A-441D-879D-15972C47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Current listings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1CD15-6DA9-463D-B7B0-6891D6A2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Price forecasts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C1E69-5568-4628-B718-0D8FAF07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Buyer–farmer contact</a:t>
            </a:r>
          </a:p>
        </p:txBody>
      </p:sp>
    </p:spTree>
    <p:extLst>
      <p:ext uri="{BB962C8B-B14F-4D97-AF65-F5344CB8AC3E}">
        <p14:creationId xmlns:p14="http://schemas.microsoft.com/office/powerpoint/2010/main" val="14770637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BA1AC1E-5ECA-40DD-B05D-54CC2D05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851467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Project Objectives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39BFB50-2DC7-4546-A165-B28E6DE3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A351CF4-620E-4C0E-93E4-47E963E6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0467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934E9-B6BC-4DCB-BC95-37F256D4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A7827-5012-4F1C-AA97-DF8261ED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240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21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Cross-platform marketplace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FFF76-7BFC-4775-819B-DACA57CC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Locate suppliers • browse products • compare current prices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796C3-2C7A-4F99-9EB6-0CC130A1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3C0F2-7F8F-494B-B5EB-9B9149ED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3375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21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Machine-learning price forecasts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26AAA-084C-4E4B-9C1B-E65A7B42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005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One-month province × commodity predictions with uncertainty bounds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CF43C-6ECE-4EEE-8162-577B8D04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95875"/>
            <a:ext cx="7810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Implementation outcome: mobile + web + Express API + FastAPI</a:t>
            </a:r>
          </a:p>
        </p:txBody>
      </p:sp>
    </p:spTree>
    <p:extLst>
      <p:ext uri="{BB962C8B-B14F-4D97-AF65-F5344CB8AC3E}">
        <p14:creationId xmlns:p14="http://schemas.microsoft.com/office/powerpoint/2010/main" val="3846692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878CEED-81B8-44E4-B54D-A9C4972D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143567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Scope of the Project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4E5D8E9-868F-4C3F-944B-EC117986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1B81C85-38CA-4A2D-B035-DD607E10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0467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959BF-940E-437D-B32D-3683B0B7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257800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4F51F-ED26-4073-B79A-B23B6901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483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875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In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95A49-3496-4EAF-828C-50950EA4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70FEA-A400-4D89-818F-FC3F0DD7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383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Buyer and farmer accounts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A2D17-982A-4EF0-9866-AD9607D8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F57F1-C7DA-42E3-9C45-4F3B0FF0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Product listing and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D6638-323B-4F71-BA2C-F669AB31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0BAE5-5FF3-47DC-BE1F-FB4F989B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861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Maps and nearby suppliers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EA5D9-F606-42D7-95A0-DA5AAF31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81FCB-1FF8-4F55-82B7-AECBF702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00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Price forecasts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6ADD1-9F1A-4D07-9B1E-5BCB4E25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5257800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D27E0-141E-4B54-B8E4-EA531E92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83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875" b="1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Outside this release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1B9F7-47CE-43D2-8C20-2CE11E43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876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8F1BD7-5D9D-427B-91BA-D0D465B2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383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Physical delivery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6EE242-F695-4860-B798-3E7FAD0B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28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876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ED1279-81B6-407F-84B4-450F38DE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622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Integrated payments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EA4F56-D331-42BB-8C00-5D8DFBB7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876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7437BE-DA7A-4F09-B673-0C0CA706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861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IoT farm devices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34B74B-8C25-479F-98F2-B1E22618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76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876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EF3FED-BFE1-4B14-A41D-A977DA82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100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Local-language interface</a:t>
            </a:r>
          </a:p>
        </p:txBody>
      </p:sp>
    </p:spTree>
    <p:extLst>
      <p:ext uri="{BB962C8B-B14F-4D97-AF65-F5344CB8AC3E}">
        <p14:creationId xmlns:p14="http://schemas.microsoft.com/office/powerpoint/2010/main" val="2410397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92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E00377C-178B-4A4E-901A-6D45F81A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388493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4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Literature Review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EEA810-AD9D-49E0-A54D-BDC4AAAC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21BF724-DDEE-46E4-BFB8-2404A48D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0467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C687C-C915-43A3-AB2D-CF178C06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00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D7E0EC"/>
                </a:solidFill>
                <a:latin typeface="Calibri"/>
                <a:ea typeface="Calibri"/>
                <a:cs typeface="Calibri"/>
              </a:rPr>
              <a:t>Evidence from e-agriculture, adoption research, and price-forecasting studies</a:t>
            </a:r>
          </a:p>
        </p:txBody>
      </p:sp>
    </p:spTree>
    <p:extLst>
      <p:ext uri="{BB962C8B-B14F-4D97-AF65-F5344CB8AC3E}">
        <p14:creationId xmlns:p14="http://schemas.microsoft.com/office/powerpoint/2010/main" val="547945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F0484-9327-4590-890E-0ECA90A7C831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 flipV="1">
            <a:off x="6762750" y="3476625"/>
            <a:ext cx="180975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FD0B7-4A0F-402F-B727-FE9F37D123EC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>
            <a:off x="6762750" y="1905000"/>
            <a:ext cx="180975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76660-4566-4A13-8C33-DD5CEC1EFA5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3286125" y="3476625"/>
            <a:ext cx="1666875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90C5A-E855-43FB-9C9B-122C07726ED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3286125" y="1905000"/>
            <a:ext cx="1666875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D6BA379-BB91-4E10-B414-FCD49741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3893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Key Concepts and Theories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6D7FE83-ECA9-415B-861C-01DB1CFD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5173179-84F5-405E-A2C3-6A6D863E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DBEA1-E4FB-4F3D-9A23-8A76D086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Digital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agriculture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45B55-A8F8-4CCB-86C1-C719DCE9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2286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E-agriculture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360CF-EFEA-4DBE-8E8A-D47842BE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29125"/>
            <a:ext cx="2286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Direct market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5D413B-7BC3-4E8C-B895-E578147C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286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Geospatial discovery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EC66D-F452-42F7-A173-E81EBE43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29125"/>
            <a:ext cx="2286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Price forecasting</a:t>
            </a:r>
          </a:p>
        </p:txBody>
      </p:sp>
    </p:spTree>
    <p:extLst>
      <p:ext uri="{BB962C8B-B14F-4D97-AF65-F5344CB8AC3E}">
        <p14:creationId xmlns:p14="http://schemas.microsoft.com/office/powerpoint/2010/main" val="16457599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58D5B97-ACFF-40F9-8752-B8A66F7D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90410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Existing Systems / Related Work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0D614A9-9947-4462-A866-3204F203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F5CA781-0CF8-4288-8907-35F913B2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5D586-E6A7-49C2-A9AB-C4C24997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Prajanti et 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9E4BE-D866-4D6A-822A-BC55B29F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2381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Marketplace + recommendations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4ED01-DEBA-4968-B225-0DB404C8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E8E8"/>
          </a:solidFill>
          <a:ln xmlns:a="http://schemas.openxmlformats.org/drawingml/2006/main" w="14288">
            <a:solidFill>
              <a:srgbClr val="9A4F4F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No forecasting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5FBF0-2F9B-419E-BA60-E0AC1F15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20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strength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CAC46-CE7C-4F2C-862C-019EF235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20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4F4F"/>
                </a:solidFill>
                <a:latin typeface="Calibri"/>
                <a:ea typeface="Calibri"/>
                <a:cs typeface="Calibri"/>
              </a:rPr>
              <a:t>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1C23D-ECD7-4540-BA1F-65E4ED4A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76375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Devika et 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1BCD0-B00F-4EEB-967E-7AF450EE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381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Direct farmer trade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23077-7FED-44B3-B88F-D1CB68FE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1475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E8E8"/>
          </a:solidFill>
          <a:ln xmlns:a="http://schemas.openxmlformats.org/drawingml/2006/main" w="14288">
            <a:solidFill>
              <a:srgbClr val="9A4F4F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No web or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88C6F-9543-4BCB-828B-74DD941C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20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strength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D9AE1-E2DB-475C-B76A-33F649A8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958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20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4F4F"/>
                </a:solidFill>
                <a:latin typeface="Calibri"/>
                <a:ea typeface="Calibri"/>
                <a:cs typeface="Calibri"/>
              </a:rPr>
              <a:t>gap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217BA-0F20-4FC6-B8A2-2D211260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76375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Bondla et 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47A63-AC75-4FFF-8F99-C44BF083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2381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Demand + geospatial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ED9DE-21CD-46F9-A1EC-D244C125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E8E8"/>
          </a:solidFill>
          <a:ln xmlns:a="http://schemas.openxmlformats.org/drawingml/2006/main" w="14288">
            <a:solidFill>
              <a:srgbClr val="9A4F4F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Urban focus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6AA92C-28A4-486D-8930-8E97CAC2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20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strength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C82486-6985-4282-921B-321B43C3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958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20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4F4F"/>
                </a:solidFill>
                <a:latin typeface="Calibri"/>
                <a:ea typeface="Calibri"/>
                <a:cs typeface="Calibri"/>
              </a:rPr>
              <a:t>gap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BA20D1-3BEB-4B42-83CE-C4DBC23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476375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Manogna et 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8DFB6E-1831-49D9-B151-8965BC7D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143125"/>
            <a:ext cx="2381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Deep price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75B0C8-D8B5-4056-8542-DB00DD2E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71475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E8E8"/>
          </a:solidFill>
          <a:ln xmlns:a="http://schemas.openxmlformats.org/drawingml/2006/main" w="14288">
            <a:solidFill>
              <a:srgbClr val="9A4F4F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No marketplace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256D90-0C84-458E-8733-A422FDFA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333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20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strength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9A1C30-E96D-47A1-8AB8-F98EC2AA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6958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20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4F4F"/>
                </a:solidFill>
                <a:latin typeface="Calibri"/>
                <a:ea typeface="Calibri"/>
                <a:cs typeface="Calibri"/>
              </a:rPr>
              <a:t>gap</a:t>
            </a:r>
          </a:p>
        </p:txBody>
      </p:sp>
    </p:spTree>
    <p:extLst>
      <p:ext uri="{BB962C8B-B14F-4D97-AF65-F5344CB8AC3E}">
        <p14:creationId xmlns:p14="http://schemas.microsoft.com/office/powerpoint/2010/main" val="13892841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F5EC750-1D75-49B4-8518-CAAA4DAD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4210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Research / Knowledge Gap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871588C-328A-45A0-9A36-C285C5D4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EDD7FBD-231F-4E10-9DBC-4C743835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EBB33-811F-444C-87F1-F8F73DCD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2857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2">
              <a:alpha val="80000"/>
            </a:srgbClr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Marketplace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AFFBB-9B15-4737-967A-5A4F7EAB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0E5">
              <a:alpha val="80000"/>
            </a:srgbClr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Geolocation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B16AC-152D-4286-B59B-6F5C8781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67125"/>
            <a:ext cx="2857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8CF">
              <a:alpha val="80000"/>
            </a:srgbClr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Forecasting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AEE55-DFDD-4F04-A6CC-46EE9097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38500"/>
            <a:ext cx="1809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AgriMart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Zambian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90B94-5C77-40B5-9E8D-0C7B61A0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76500"/>
            <a:ext cx="3381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Existing work usually addresses one or two capabilities, not the integrated experience</a:t>
            </a:r>
          </a:p>
        </p:txBody>
      </p:sp>
    </p:spTree>
    <p:extLst>
      <p:ext uri="{BB962C8B-B14F-4D97-AF65-F5344CB8AC3E}">
        <p14:creationId xmlns:p14="http://schemas.microsoft.com/office/powerpoint/2010/main" val="13580008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92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E3E2275-B3CC-4FB3-92C7-AFD76571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3029268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4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Methodology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7AD34D-303D-4E9C-B7F0-CF29A6D4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0BD7A90-0D33-46E8-9F00-18CB16AF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56920-9292-400D-9D98-6C06997F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00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D7E0EC"/>
                </a:solidFill>
                <a:latin typeface="Calibri"/>
                <a:ea typeface="Calibri"/>
                <a:cs typeface="Calibri"/>
              </a:rPr>
              <a:t>Agile delivery for the platform, CRISP-DM for the forecasting model</a:t>
            </a:r>
          </a:p>
        </p:txBody>
      </p:sp>
    </p:spTree>
    <p:extLst>
      <p:ext uri="{BB962C8B-B14F-4D97-AF65-F5344CB8AC3E}">
        <p14:creationId xmlns:p14="http://schemas.microsoft.com/office/powerpoint/2010/main" val="19855111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E967F-6F3F-4173-969D-F94127306E10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886950" y="2786063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FFE7A-ADE9-4F88-8B3A-1B69EDEA60B0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772525" y="2786063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94DB3-93E6-4ADF-B362-5E77E3942353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658100" y="2786063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A8034-2D26-4935-A53E-97E83BC0657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076700" y="2786063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3C9E1-32A5-4200-ADE8-9C43FB8A45F5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62275" y="2786063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DCAA4-F802-4DF7-8B64-E0392637134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847850" y="2786063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B2624DA-D7DD-4445-81CD-CA8FAAA5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32955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Research / Development Approach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4511AE9-889E-40FE-AB4E-3EE4804E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89CB70D-6884-4817-B65C-BCC293A7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12331-40D0-428E-8DAE-C97CD638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428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Agile Scrum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C1D08-CF48-4109-8321-1147D422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9429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Backlog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F4C4C-2E3E-4B3E-8F53-480842B2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33625"/>
            <a:ext cx="9429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2-week sprint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3EA39-E7A5-4C08-8D8C-F92A8686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333625"/>
            <a:ext cx="9429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F544F-F21C-4EA5-B302-918742B3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33625"/>
            <a:ext cx="9429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Refine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AE1F0-05EA-410B-A485-C4428EA5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428750"/>
            <a:ext cx="428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CRISP-DM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81C18-EA83-4E11-81DF-61CFC53D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33625"/>
            <a:ext cx="9429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Understand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63B04-329D-433F-BAEC-2AAD556A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33625"/>
            <a:ext cx="9429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Prepare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DBE16C-F3C8-459B-8ED7-AA84E623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33625"/>
            <a:ext cx="9429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5553D7-AB12-4938-9037-E31810BF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33625"/>
            <a:ext cx="9429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Evaluate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83CB96-6A02-4813-BE88-45BC9142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86250"/>
            <a:ext cx="666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Integration milestone</a:t>
            </a:r>
          </a:p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Mobile and web consume stable Express and FastAPI contracts</a:t>
            </a:r>
          </a:p>
        </p:txBody>
      </p:sp>
    </p:spTree>
    <p:extLst>
      <p:ext uri="{BB962C8B-B14F-4D97-AF65-F5344CB8AC3E}">
        <p14:creationId xmlns:p14="http://schemas.microsoft.com/office/powerpoint/2010/main" val="17908619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A61451-F9DA-4415-9E3C-20A984A656C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80575" y="32385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AFE93-40B8-443B-A6A0-FC78D3A5773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835900" y="32385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7D347-25AF-4D26-88AA-19327F054CB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991225" y="32385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885ED-55CA-46BE-BE17-581711BF1BF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146550" y="32385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E2F66-10FC-4426-98D1-1EB03E132FD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01875" y="32385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C63078A-BBE9-47F7-B0D8-ECBE3C2B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75780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Project Workflow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878A975-24DF-4BB9-B444-CC7238F8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A7C7499-B993-4CDA-92ED-6D3FF22A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B7268-C5A6-45FF-98A7-10F6AFAC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Requirements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E1231-23AF-4B22-ADD0-C88668FE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425" y="2667000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UX +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2654C-EA71-4DD0-ACC6-208EE5B2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667000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Marketplace 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25BFC-8DAC-48EF-AD50-D4240B81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667000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ML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40153-18E7-4B68-A0BF-DDBE06F9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667000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API integration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BB102-EE81-41AE-95D2-53CCAEB8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125" y="2667000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Verification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B9BDC4-0D70-4C60-9FA4-0836944D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76750"/>
            <a:ext cx="647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Feedback from each verification cycle returns to the backlog</a:t>
            </a:r>
          </a:p>
        </p:txBody>
      </p:sp>
    </p:spTree>
    <p:extLst>
      <p:ext uri="{BB962C8B-B14F-4D97-AF65-F5344CB8AC3E}">
        <p14:creationId xmlns:p14="http://schemas.microsoft.com/office/powerpoint/2010/main" val="13381395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4060AF8-BB1E-453E-81A2-3798EA54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55790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Tools and Technologies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5B37C34-E8E8-4D49-B6CC-BD41C840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B993C94-0D4B-425B-B7A5-A85C8326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25DA3-4C37-44D3-95E2-BDE8DACA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Interfaces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0EDF9-446A-4FE5-87BC-08F823C3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381125"/>
            <a:ext cx="7810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Expo • React Native • Next.js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4C39A-140A-4B73-9384-B5B62C4E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Marketplace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BFE6A-F217-483F-9993-507D1270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57425"/>
            <a:ext cx="7810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Node.js • Express • JWT • Joi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FAE92-143F-4968-92AB-098A8A45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Forecast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BB05A-B7D6-47EC-A1A9-17B3D104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33725"/>
            <a:ext cx="7810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Python • FastAPI • XGBoost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DFD8A-A356-45B3-A7DE-4B3B8D74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E6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AB819-C66D-4784-BC39-289DD05E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10025"/>
            <a:ext cx="7810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253E61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Supabase PostgreSQL • WFP panel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FD908-A6B1-4149-AA25-0894A80B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86325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7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Delivery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BF03F-FC49-4BE2-9C71-541980D0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886325"/>
            <a:ext cx="7810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5D687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GitHub • Docker • Render / Cloud Run</a:t>
            </a:r>
          </a:p>
        </p:txBody>
      </p:sp>
    </p:spTree>
    <p:extLst>
      <p:ext uri="{BB962C8B-B14F-4D97-AF65-F5344CB8AC3E}">
        <p14:creationId xmlns:p14="http://schemas.microsoft.com/office/powerpoint/2010/main" val="1108643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5077F-898D-4473-9990-C7BA2D59CC8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29500" y="3762375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E54D6-67A3-49B9-B610-9DDCF9592E2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86125" y="3762375"/>
            <a:ext cx="1476375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C52F2-BC93-4E6D-A7AF-9468B1BF528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86125" y="2667000"/>
            <a:ext cx="1476375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3AF6ABA-FE79-4BFD-B98B-CF01AB74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80568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Data Collection / Requirements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665CC30-8F8A-44D8-AE55-A9592E73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E44D3CC-6E1C-4318-9064-FF4BE230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D83BE-1132-4ABE-AD7D-2E47977F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2476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Requirements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proposal + user 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D5E19-2FFC-4994-8A46-D81D2650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48125"/>
            <a:ext cx="2476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Historical prices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WFP Zambia panel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1C968-5657-4796-BF1F-001DB6A3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2667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Prepared dataset</a:t>
            </a:r>
          </a:p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12,352 rows</a:t>
            </a:r>
          </a:p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223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8DFD7-CE9C-49C8-8067-BA98829F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52750"/>
            <a:ext cx="2381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Outputs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features + model artifacts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API catalogue</a:t>
            </a:r>
          </a:p>
        </p:txBody>
      </p:sp>
    </p:spTree>
    <p:extLst>
      <p:ext uri="{BB962C8B-B14F-4D97-AF65-F5344CB8AC3E}">
        <p14:creationId xmlns:p14="http://schemas.microsoft.com/office/powerpoint/2010/main" val="20758282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92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985EE7F-7211-4CB4-8D1B-BB1A5699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5975667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4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System Analysis and Design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53DD9-8946-4645-9CF8-5CCDAD40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2791863-F106-4515-9B8A-8143C6CC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3D121-EA01-42B0-A942-C4EBFB1E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00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D7E0EC"/>
                </a:solidFill>
                <a:latin typeface="Calibri"/>
                <a:ea typeface="Calibri"/>
                <a:cs typeface="Calibri"/>
              </a:rPr>
              <a:t>Actors, requirements, architecture, data relationships, interfaces, and model design</a:t>
            </a:r>
          </a:p>
        </p:txBody>
      </p:sp>
    </p:spTree>
    <p:extLst>
      <p:ext uri="{BB962C8B-B14F-4D97-AF65-F5344CB8AC3E}">
        <p14:creationId xmlns:p14="http://schemas.microsoft.com/office/powerpoint/2010/main" val="13593885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B6F3E-09F7-490C-A36E-467B0331A57C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 flipV="1">
            <a:off x="6858000" y="3524250"/>
            <a:ext cx="171450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6843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9DB8F-4E83-4DC9-9E61-8D903F526D53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>
            <a:off x="6858000" y="2143125"/>
            <a:ext cx="171450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D687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0F1F2-A14E-42ED-B4AA-2A756C14C68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3333750" y="3524250"/>
            <a:ext cx="171450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214F7-3609-4A5E-AB61-36B6234A2C0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3333750" y="2143125"/>
            <a:ext cx="171450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E7859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5A0E193-2722-4664-83D0-D55E3841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622992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Stakeholders and Users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E2A7B15-BE07-4804-801C-A02EB3E3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CBA6E5E-C9E9-45F3-94D5-91BAAF4E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26007-A928-4A0A-B1F1-CD90FEC5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19375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AgriMart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0C422-A79F-4EB8-A5AF-75674658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2428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Farmer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manage listings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reach buyers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BE72A-AEB1-45A4-871F-17268D90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2428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Buyer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discover produce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compare prices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2E9DC-B86C-44BC-A27E-55E7F998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71625"/>
            <a:ext cx="2428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5D687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Platform operator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secure services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maintain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76399-F4F4-48BF-A052-31A1E7C5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428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Project evaluator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review evidence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assess objectives</a:t>
            </a:r>
          </a:p>
        </p:txBody>
      </p:sp>
    </p:spTree>
    <p:extLst>
      <p:ext uri="{BB962C8B-B14F-4D97-AF65-F5344CB8AC3E}">
        <p14:creationId xmlns:p14="http://schemas.microsoft.com/office/powerpoint/2010/main" val="21437879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6EA833-812B-45F4-98E8-0EB56A15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686625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Functional and Non-Functional Requirements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F46E930-BA3F-4945-959A-F3A4954F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1346743-BE8E-45FA-8CA1-65964264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39779-12F2-4389-A5CF-D105CA99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52578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E2940-47FB-45F0-8F3A-A5FD4F35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57325"/>
            <a:ext cx="483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875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Functional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B7FC2-F61D-4C10-9DCC-5BFF3AA5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B2488-22DA-4A53-8EC4-DB97AFEA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Register and authenticate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534EC-345B-44CF-B6AB-B7CC52B4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86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8D8C4-7DC3-463F-9EE9-BE296253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194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Create and browse listings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52469-44C4-466E-8E40-D8BF673D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9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950EE-42AA-485A-A798-D2031978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433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Save and compare products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3A332-D8D3-409F-B1B9-A00A6946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65A0B-2F1B-4689-BB9F-753B93F7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672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Find nearby suppliers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63E901-F18C-46F0-862D-1C6952A6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57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26553-540B-4BA9-8422-1162B38C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Request a price forecast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E7A82-7707-47C9-93BA-310F66DF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85875"/>
            <a:ext cx="52578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D48C9E-4702-4B83-AEF5-4915A304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57325"/>
            <a:ext cx="483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875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416C98"/>
                </a:solidFill>
                <a:latin typeface="Calibri"/>
                <a:ea typeface="Calibri"/>
                <a:cs typeface="Calibri"/>
              </a:rPr>
              <a:t>Quality attributes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56F4DB-65CE-461A-9E4A-8721E9D2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0687A-F370-40FB-8A8F-91EB2E19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955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Secure session handling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5848E4-04D6-474E-9B50-2024D48B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86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EBBB8D-3688-44E3-8075-32639B78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194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Clear validation and errors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E06653-6140-4A2E-BF73-2AE338C8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09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1FFDB7-8FF8-480A-A400-61EC6E2A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433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Responsive mobile and web UI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B7E0A1-94C5-4066-911E-57FF9D2B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33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025E1C-5B6F-43FE-BEB9-D34F73B5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672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Reliable service health checks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6209CC-C62F-49F8-8422-78D89E52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57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A8FC20-D078-445E-9F01-B93D9507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9110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Traceable forecast uncertainty</a:t>
            </a:r>
          </a:p>
        </p:txBody>
      </p:sp>
    </p:spTree>
    <p:extLst>
      <p:ext uri="{BB962C8B-B14F-4D97-AF65-F5344CB8AC3E}">
        <p14:creationId xmlns:p14="http://schemas.microsoft.com/office/powerpoint/2010/main" val="6489016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F7BE1-2D0F-4258-8409-98BF54FCACD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619875" y="4381500"/>
            <a:ext cx="1476375" cy="11906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DAD58F-DAD7-44A7-936B-D3F5BFC50F7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6619875" y="2262188"/>
            <a:ext cx="1476375" cy="7143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D0CBC1-8E67-42F5-A231-2EDCC5A9059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762250" y="4381500"/>
            <a:ext cx="1285875" cy="11906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2F191B-E01E-4DB8-8845-B2D2C3B386B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762250" y="2024063"/>
            <a:ext cx="1285875" cy="235743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81F91-B334-43AA-8E9C-7F8210B6F44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762250" y="2333625"/>
            <a:ext cx="1285875" cy="216693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D5CB1-00E3-488B-A869-F684E9CEDDB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62250" y="2024063"/>
            <a:ext cx="1285875" cy="30956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20829E1-A383-4CCB-AFF7-787E79CC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146742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System Architecture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E4EE8F4-2B68-410F-9A5F-427994AB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B3CC8D9-35EC-4E97-9D24-5F3CB0DF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F6729-062A-4409-A875-A8B3D1EE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095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Mobile app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Expo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35470-D109-4A4B-B89B-878DC1F9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095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Web app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Next.js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694AC-34A2-43BA-9A80-8328B673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62125"/>
            <a:ext cx="2571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Marketplace API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Express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B83AD-1E24-48A9-BD2D-D6A8EE6E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10000"/>
            <a:ext cx="2571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Forecast API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FastAPI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1F64E-110D-4629-B34E-31E45B61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857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Supabase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PostgreSQL + Storage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EB173-D883-4F86-9EEF-5E6C166E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2857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XGBoost bundle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Processed monthly panel</a:t>
            </a:r>
          </a:p>
        </p:txBody>
      </p:sp>
    </p:spTree>
    <p:extLst>
      <p:ext uri="{BB962C8B-B14F-4D97-AF65-F5344CB8AC3E}">
        <p14:creationId xmlns:p14="http://schemas.microsoft.com/office/powerpoint/2010/main" val="19677824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99DED-7C80-48FF-AFDF-F7DAC704BB51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2524125"/>
            <a:ext cx="3571875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E7CF8-5498-4466-A711-2D51233EBFE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524375" y="3929063"/>
            <a:ext cx="571500" cy="59531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4B039-6ADB-4089-B3EF-A37D8E970B5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524125"/>
            <a:ext cx="142875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4DD77-DF93-4155-8B26-4311393C816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2809875" y="2524125"/>
            <a:ext cx="3286125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5681AD2-9CC2-401B-A0DB-D3EF9B82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63728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Database / Data Design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292539E-148F-4A90-9AB5-B8B096EC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565D69-8663-4497-B282-0198ABDD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021AD-B218-40C6-B56F-725D74C1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76375"/>
            <a:ext cx="3048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profiles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id • role • location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DC7E0-3C5B-41D1-8C53-9BEAE38F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33750"/>
            <a:ext cx="3429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products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supplier • category • price • coordinates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174F7-E483-487C-BD6C-908FC808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00500"/>
            <a:ext cx="2286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saved_products</a:t>
            </a:r>
          </a:p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profile ↔ product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3E720-7716-4E7A-ACFB-5B933518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2857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5D687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notifications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recipient • message • 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3C38B-10C8-44E8-8B48-BD279E60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8162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Parameterized SQL and schema validation protect each write path</a:t>
            </a:r>
          </a:p>
        </p:txBody>
      </p:sp>
    </p:spTree>
    <p:extLst>
      <p:ext uri="{BB962C8B-B14F-4D97-AF65-F5344CB8AC3E}">
        <p14:creationId xmlns:p14="http://schemas.microsoft.com/office/powerpoint/2010/main" val="9322290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B5BE55-9777-437E-BDBE-D26FF1ECBB78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3455670" y="2286000"/>
            <a:ext cx="2640330" cy="18573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F3BF96-8841-48D3-BA8F-A75355C956C9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3455670" y="2286000"/>
            <a:ext cx="264033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E7859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1831EE-F997-4F1A-A48A-8BF7853D8D97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490710" y="44862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A9BEF6-A6D8-488B-A0E6-B8B501E5BB60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741920" y="44862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56874-4734-418F-BF35-AF4FB772075F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993130" y="44862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4AF9B-B90E-477F-8485-784A4A90015F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244340" y="44862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BFF9C-10C1-43CF-B091-E1FED2B80BCA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490710" y="30099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87019-A5B0-4F3C-AFE0-4CBFD9AF3DA0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741920" y="30099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0286D-26C8-4114-98AA-024A0D52CBA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93130" y="30099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4D434-BEE5-4877-9D34-A31D4B80291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44340" y="30099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DCBCB06-EA21-43C8-9BB0-301AF569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502468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Interface / Interaction Design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4096395-5F2D-4BAD-9D04-510FE55A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5DE8A2D-1AA4-4E7F-AFF1-C34B3E14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9CD51-8A35-4475-A487-D0451894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381125"/>
            <a:ext cx="3524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Shared app shell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authentication • profile • settings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00A39-EDF7-48A6-A1A9-962965FA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4FD0C-8725-4002-B798-87F1BEE2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67000"/>
            <a:ext cx="15773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19F0A-AA2B-4441-9D27-75E54AA5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790" y="2667000"/>
            <a:ext cx="15773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Browse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3480D-A440-47AF-9611-AEA74184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580" y="2667000"/>
            <a:ext cx="15773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Product details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30BAB-26C8-4605-81A2-A0CDEAAF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370" y="2667000"/>
            <a:ext cx="15773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Save / 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EE4E8-85FB-4B44-A78B-6A5D7885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667000"/>
            <a:ext cx="15773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Nearby / forecast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C7C8E-77E4-4CBB-8BD6-CA267EEB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FARMER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D7CD1-6651-4C4B-962E-B613D361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43375"/>
            <a:ext cx="15773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My Farm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8E1FF-A8A2-4FB0-91E8-4DAD065F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790" y="4143375"/>
            <a:ext cx="15773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My listings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05DE2-541F-4C7E-B89A-A1BE6C00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580" y="4143375"/>
            <a:ext cx="15773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Add product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7E39B2-8B48-418E-9EFE-4DB9971C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370" y="4143375"/>
            <a:ext cx="15773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Edit / sold 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47E24-D1F0-47E1-A126-3A8CED31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4143375"/>
            <a:ext cx="15773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Location / profile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767B10-1AE5-4148-BC45-9402C360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Role-aware navigation exposes the right tasks while reusing shared components and service contracts</a:t>
            </a:r>
          </a:p>
        </p:txBody>
      </p:sp>
    </p:spTree>
    <p:extLst>
      <p:ext uri="{BB962C8B-B14F-4D97-AF65-F5344CB8AC3E}">
        <p14:creationId xmlns:p14="http://schemas.microsoft.com/office/powerpoint/2010/main" val="16150559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B4048-EBEB-43FC-A922-2C894C3AC9A5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86925" y="29051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11BF96-5F1B-4D5C-BB5A-C4CCC32EEF3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848600" y="29051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B1A50-0F0D-4F1A-9C7D-FBC091DD2AD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010275" y="29051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A75A8-8C4D-4EC0-8FFE-8D643F29502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171950" y="29051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00B56-19B4-49BB-98E5-7C2FBE24157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33625" y="29051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30148F3-2207-46D7-A8DF-B3596CC5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953442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Algorithms / Models / Technical Design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24DAAFE-1BE0-4993-BD10-52FF9B00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5D59A58-045F-41C8-8A82-50C634E4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DE3D4-4116-449D-8EE4-D726107C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666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Monthly prices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B2E7A-498B-49E2-9E59-119CE1AA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86000"/>
            <a:ext cx="1666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Lag + momentum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0435F-D750-4F45-BDEC-DC9A6DE5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86000"/>
            <a:ext cx="1666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Rolling + seasonal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3C46C-34B2-49D1-ACEB-9E79FB20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86000"/>
            <a:ext cx="1666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XGBoost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FC67E-3D8E-4C42-8554-7165296E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86000"/>
            <a:ext cx="1666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Prediction interval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30390-5EF7-46EE-8708-2DCA6ABD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86000"/>
            <a:ext cx="1666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FastAPI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966601-51C6-4763-AB0B-17430B35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2381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550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416C98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5B5D4-160A-4989-9989-5E380CE3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768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engineered features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04D628-9E11-43BE-9913-10333D62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333875"/>
            <a:ext cx="2381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550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B68432"/>
                </a:solidFill>
                <a:latin typeface="Calibri"/>
                <a:ea typeface="Calibri"/>
                <a:cs typeface="Calibri"/>
              </a:rPr>
              <a:t>1 month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D4A87-A91E-44FB-875B-4FE6472A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768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forecast horizon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9DF79D-680B-46C3-AF61-BCE3777B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2381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5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90%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1BA445-FF80-45B6-8EA0-FB547DCA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nominal interval</a:t>
            </a:r>
          </a:p>
        </p:txBody>
      </p:sp>
    </p:spTree>
    <p:extLst>
      <p:ext uri="{BB962C8B-B14F-4D97-AF65-F5344CB8AC3E}">
        <p14:creationId xmlns:p14="http://schemas.microsoft.com/office/powerpoint/2010/main" val="129764510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92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D5C712E-7410-45F5-A061-2CBC0252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3583305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4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Implementation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DCF42C0-5C32-41B0-88F1-9822C889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FFA2214-202F-472F-8CD6-B7160C4C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67A87-49B8-447C-8BAD-AD4AA1F6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00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D7E0EC"/>
                </a:solidFill>
                <a:latin typeface="Calibri"/>
                <a:ea typeface="Calibri"/>
                <a:cs typeface="Calibri"/>
              </a:rPr>
              <a:t>Four deployable components joined through explicit API contracts</a:t>
            </a:r>
          </a:p>
        </p:txBody>
      </p:sp>
    </p:spTree>
    <p:extLst>
      <p:ext uri="{BB962C8B-B14F-4D97-AF65-F5344CB8AC3E}">
        <p14:creationId xmlns:p14="http://schemas.microsoft.com/office/powerpoint/2010/main" val="32156018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3986D-144B-4FCE-9AA3-E037B7EB2D10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80575" y="3000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B844C-BF22-4157-B2A5-A4567B1E419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835900" y="3000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90D88-D161-4524-B101-E8410D9407F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991225" y="3000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AF266-100B-430C-9423-91F4150B3CB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146550" y="3000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4CA7B-991A-4687-B40B-08C9399066F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01875" y="3000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5527E03-0128-4FFB-823B-BEC03D10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5480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Development Environment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05CB672-371F-4ED5-BD3F-DCA3D00C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89D2F1E-D732-46BA-89CA-7B4107FF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06C88-5AE2-4C3C-8C9F-BBF6FB59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VS Code + Git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16F7A-657B-47A2-B0D7-F7AF2687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425" y="2428875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Local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DBC30-CFC0-4017-B464-84154CE7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428875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Automated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54042-F699-4C96-A3F2-C52CB6AA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28875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Docker image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3F2B3-A2AD-42E0-93A9-F347FAF1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428875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Hosted APIs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3013B-7B05-45E2-A45C-3B5E0E47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125" y="2428875"/>
            <a:ext cx="1635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Mobile / web clients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C8E96-362B-4956-B24D-6AE7012E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5143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Reproducible environments</a:t>
            </a:r>
          </a:p>
          <a:p xmlns:a="http://schemas.openxmlformats.org/drawingml/2006/main">
            <a: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npm lockfiles • uv.lock • Dockerfile</a:t>
            </a:r>
          </a:p>
        </p:txBody>
      </p:sp>
    </p:spTree>
    <p:extLst>
      <p:ext uri="{BB962C8B-B14F-4D97-AF65-F5344CB8AC3E}">
        <p14:creationId xmlns:p14="http://schemas.microsoft.com/office/powerpoint/2010/main" val="19653952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AD79A8F-D789-4F12-8227-EAD004A0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79615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System Components / Modules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B6A162F-89BB-4EA2-8BF1-44C4DE4C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74F1416-9F1D-48B5-86AA-F1CC6F62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98DE8-5D8B-421F-8F09-94343503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14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519B9-E093-4076-B9B1-13615D1A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Mobile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buyer + farmer 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511A1-20DC-4188-AD7B-828668EB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14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2A749-1E31-4DC6-96D3-EF13D52D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09875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Web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responsive marketplace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78D6E-D410-430B-9C70-EC599A6B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11340-02CE-4801-B4D5-95B51813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9875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Express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auth + listings + saves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BC6E0-219A-45AE-B484-47DF91B5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14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F992F-C8B2-4D49-8827-6A61DB7C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09875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FastAPI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catalogue + forecast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BA9B7-5877-4C86-B10B-CC1B36ED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FE6BA-4446-4D47-88A2-3B34CD8F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9875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Data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Postgres + model 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AFD66-7F5D-4992-964A-0766F8AC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Each component can run, test, and deploy independently</a:t>
            </a:r>
          </a:p>
        </p:txBody>
      </p:sp>
    </p:spTree>
    <p:extLst>
      <p:ext uri="{BB962C8B-B14F-4D97-AF65-F5344CB8AC3E}">
        <p14:creationId xmlns:p14="http://schemas.microsoft.com/office/powerpoint/2010/main" val="190467409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6BF07A0-C982-495F-9028-E529542D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264342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Key Implementation Details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91071FF-2221-4769-B01A-A4E3DFA6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A583C6C-418E-4F66-ABE9-071FF743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9D079-4814-4AD4-98A7-34C1662C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2381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Authentication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6DEAC-C5A8-4C2F-9D1A-57954EE8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JWT + bcrypt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SecureStore on mobile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12FB7-4615-4FDE-967E-17854059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619250"/>
            <a:ext cx="2381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Listings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27292-89C2-48A4-9759-B3A75867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8125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multipart images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validated CRUD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780B3-0F3D-4D02-BA1C-58F51377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2381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5D6876"/>
          </a:solidFill>
          <a:ln xmlns:a="http://schemas.openxmlformats.org/drawingml/2006/main" w="14288">
            <a:solidFill>
              <a:srgbClr val="5D687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C694B-A03C-4F34-820A-42505A71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5D687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GPS + product pins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Haversine sorting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12EE1-7EF5-4BA1-B76E-FEB93D98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619250"/>
            <a:ext cx="2381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Forecasting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5A027-7227-416E-8956-BD99E65F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8125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commodity matching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bounds + stale warnings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689A1-76F1-445A-917C-F3D81A9A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8001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Cross-service contract: marketplace state stays in Express; model inference stays in FastAPI</a:t>
            </a:r>
          </a:p>
        </p:txBody>
      </p:sp>
    </p:spTree>
    <p:extLst>
      <p:ext uri="{BB962C8B-B14F-4D97-AF65-F5344CB8AC3E}">
        <p14:creationId xmlns:p14="http://schemas.microsoft.com/office/powerpoint/2010/main" val="110552692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D5BFA-8C97-43CC-A53A-A51B50066B24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762500" y="519112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92D4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CB95F-EE6A-4E09-A940-865DA27E65D0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62500" y="404812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92D4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3FFA3-1916-4E54-9C6B-90B0E4072052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762500" y="290512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92D4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15EAF-6543-4F06-A06A-EA5F780B04C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62500" y="176212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92D4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380A01E-0683-493F-BADC-C4B3CBD1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854768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Challenges and Solutions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601F869-99CD-470D-AC0A-8EA3F514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C82B05D-BFDC-4EB5-A40B-45A91A02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5EC66-3B65-4D77-9A4A-E73BC517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000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E8E8"/>
          </a:solidFill>
          <a:ln xmlns:a="http://schemas.openxmlformats.org/drawingml/2006/main" w="14288">
            <a:solidFill>
              <a:srgbClr val="9A4F4F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Unstable service URLs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92FB6-B262-4343-A267-3CD66532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4476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Separate environment variables for Express and 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2C04C-B3FB-41A5-9199-B23C0BAE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4000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E8E8"/>
          </a:solidFill>
          <a:ln xmlns:a="http://schemas.openxmlformats.org/drawingml/2006/main" w="14288">
            <a:solidFill>
              <a:srgbClr val="9A4F4F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Image persistence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45E1B-61C2-4F03-997D-46FADC3D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24125"/>
            <a:ext cx="4476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Supabase Storage path with local fallback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2B7A0-5590-4B8B-A23E-3E3268A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4000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E8E8"/>
          </a:solidFill>
          <a:ln xmlns:a="http://schemas.openxmlformats.org/drawingml/2006/main" w="14288">
            <a:solidFill>
              <a:srgbClr val="9A4F4F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Location 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95A37-9982-4B27-969D-45585479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67125"/>
            <a:ext cx="4476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Explicit map pin plus device GPS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E4B89-8666-4A12-958F-BBCA86E9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000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E8E8"/>
          </a:solidFill>
          <a:ln xmlns:a="http://schemas.openxmlformats.org/drawingml/2006/main" w="14288">
            <a:solidFill>
              <a:srgbClr val="9A4F4F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Forecast uncertainty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AD422-AB5B-4359-9A82-FC91FBE9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4476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Bounds and stale-series warnings in the UI</a:t>
            </a:r>
          </a:p>
        </p:txBody>
      </p:sp>
    </p:spTree>
    <p:extLst>
      <p:ext uri="{BB962C8B-B14F-4D97-AF65-F5344CB8AC3E}">
        <p14:creationId xmlns:p14="http://schemas.microsoft.com/office/powerpoint/2010/main" val="92571726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92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846F87A-DCB4-49DA-ABA8-AF3190ED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41960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4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Testing and Results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F6FB51-1BD5-49D3-8B59-BCCC8459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189FA84-7572-4B9A-BF62-9DE14EF3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9C581-B687-4F50-BC9A-930B3AA0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00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D7E0EC"/>
                </a:solidFill>
                <a:latin typeface="Calibri"/>
                <a:ea typeface="Calibri"/>
                <a:cs typeface="Calibri"/>
              </a:rPr>
              <a:t>Automated verification plus held-out forecasting evaluation</a:t>
            </a:r>
          </a:p>
        </p:txBody>
      </p:sp>
    </p:spTree>
    <p:extLst>
      <p:ext uri="{BB962C8B-B14F-4D97-AF65-F5344CB8AC3E}">
        <p14:creationId xmlns:p14="http://schemas.microsoft.com/office/powerpoint/2010/main" val="38916857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C45EAD2-47CF-40B6-96DD-B0200268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511743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Testing Strategy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A4B0DDF-C04E-47E3-98DB-2BA53CDF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F790EDD-D6FE-4ACD-B965-DDE13712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9A92F-AD81-436F-93BE-3315D17A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4191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User flow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5A486-8B97-4822-A8FC-7071E4A2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33625"/>
            <a:ext cx="5905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API integration and contracts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FBF27-F4FD-42D4-8A29-61D07A19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81375"/>
            <a:ext cx="7715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Services, validation, 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F8E31-D3BF-4301-86A8-765EC6E0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952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5D687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Unit tests: helpers, mappings, preprocessing</a:t>
            </a:r>
          </a:p>
        </p:txBody>
      </p:sp>
    </p:spTree>
    <p:extLst>
      <p:ext uri="{BB962C8B-B14F-4D97-AF65-F5344CB8AC3E}">
        <p14:creationId xmlns:p14="http://schemas.microsoft.com/office/powerpoint/2010/main" val="78234089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B204794-3106-4B1F-ABD2-A1D5B438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91008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Test Results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87AB118-CD35-40CD-A922-74F64A73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EB27B44-FE82-40C7-94E7-74DAF49B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2A349-DBDE-4D55-A4C8-B786E9DB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550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416C98"/>
                </a:solidFill>
                <a:latin typeface="Calibri"/>
                <a:ea typeface="Calibri"/>
                <a:cs typeface="Calibri"/>
              </a:rPr>
              <a:t>15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BE801-B94A-4113-834E-7AA2B30A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098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backend tests passed</a:t>
            </a:r>
          </a:p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1 upload test timed 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9DF70-D8A0-4A38-BCF1-5601FDBB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5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7 / 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0365F-FA7F-4039-8FA2-61B0A466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098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mobile contract tests 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37FAF-427A-43A3-8308-5B46D75B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66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550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B68432"/>
                </a:solidFill>
                <a:latin typeface="Calibri"/>
                <a:ea typeface="Calibri"/>
                <a:cs typeface="Calibri"/>
              </a:rPr>
              <a:t>4 /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BF7AF-1F1E-47E1-AE43-792F5D6E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098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ML API tests passed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D7075-B102-4F4D-BF9A-FFB3F615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14750"/>
            <a:ext cx="7429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 of 27 automated checks passed in the verification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6A47A-291C-4098-B279-7C4298A9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05375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A4F4F"/>
                </a:solidFill>
                <a:latin typeface="Calibri"/>
                <a:ea typeface="Calibri"/>
                <a:cs typeface="Calibri"/>
              </a:rPr>
              <a:t>Open issue: backend upload test exceeded the 5-second limit and left an asynchronous bcrypt operation</a:t>
            </a:r>
          </a:p>
        </p:txBody>
      </p:sp>
    </p:spTree>
    <p:extLst>
      <p:ext uri="{BB962C8B-B14F-4D97-AF65-F5344CB8AC3E}">
        <p14:creationId xmlns:p14="http://schemas.microsoft.com/office/powerpoint/2010/main" val="166121464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4165382-2BC8-4920-A646-1C701CB0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49465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Performance / Experimental Results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A5C729A-B0AB-4232-9212-20675740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AD3AF5C-A713-4D74-B35B-EC89B323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5AF5C-F08B-461D-B495-9BA7A5F644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20faf7d8454889"/>
          <a:stretch xmlns:a="http://schemas.openxmlformats.org/drawingml/2006/main"/>
        </p:blipFill>
        <p:spPr>
          <a:xfrm xmlns:a="http://schemas.openxmlformats.org/drawingml/2006/main">
            <a:off x="619125" y="1923688"/>
            <a:ext cx="5905500" cy="291537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BC423-E990-45DD-AB87-BDF92AAB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71625"/>
            <a:ext cx="1952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5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9.35%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3E75F-8631-4E1D-AA09-2BA131DE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145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validation MAPE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1482F-BB80-46FA-AB23-BE5CC90D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571625"/>
            <a:ext cx="1952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550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B68432"/>
                </a:solidFill>
                <a:latin typeface="Calibri"/>
                <a:ea typeface="Calibri"/>
                <a:cs typeface="Calibri"/>
              </a:rPr>
              <a:t>10.62%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DAC61-459D-40A9-9517-8CF28CC9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145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held-out test MAPE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90E45-A0EE-4787-BB9E-B7579F04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33750"/>
            <a:ext cx="1952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550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416C98"/>
                </a:solidFill>
                <a:latin typeface="Calibri"/>
                <a:ea typeface="Calibri"/>
                <a:cs typeface="Calibri"/>
              </a:rPr>
              <a:t>ZMW 2.53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FEC40-E9C9-4E2F-B9A0-9F3792D9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767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test MAE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5EA14-8AB0-4511-AB90-A5AB5882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33750"/>
            <a:ext cx="1952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25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91.7%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3393F-D3A0-48D5-A9AF-15C36763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767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coverage of 90% interval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4AE48-65A8-49D6-B26F-4CB3FD03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191125"/>
            <a:ext cx="452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XGBoost improves test MAPE over the 11.16% last-value baseline</a:t>
            </a:r>
          </a:p>
        </p:txBody>
      </p:sp>
    </p:spTree>
    <p:extLst>
      <p:ext uri="{BB962C8B-B14F-4D97-AF65-F5344CB8AC3E}">
        <p14:creationId xmlns:p14="http://schemas.microsoft.com/office/powerpoint/2010/main" val="199409291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0DA55-3A90-4098-ABB7-6425C5435A0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553575" y="21431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582F0-4E19-4924-B684-8C422C97B61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962900" y="21431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C58E4-B33B-42E6-936F-E57922C0253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372225" y="21431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9FDDD76-072C-4160-9254-3F03ED47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48475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User Evaluation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82EA881-3FDB-4D26-9551-C1502449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CF36194-9EC2-48F4-91C5-B6F69927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594B8-54FA-4CF9-A190-0615B997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Formal field-user study</a:t>
            </a:r>
          </a:p>
          <a:p xmlns:a="http://schemas.openxmlformats.org/drawingml/2006/main">
            <a: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Not yet completed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AEA94-C6D2-4673-BFA4-D5D1AE33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66875"/>
            <a:ext cx="14192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Recruit farmers + buyers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794B7-3424-40D8-A299-04F8C9F8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666875"/>
            <a:ext cx="14192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Task-based sessions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4F170-E707-4B88-BAE8-D4E36A0C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66875"/>
            <a:ext cx="14192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SUS questionnaire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AEC32-6079-4115-92E0-235CF4FC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666875"/>
            <a:ext cx="14192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Prioritize changes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9CF9A-6219-4B73-BCDD-ECFDBD3D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62375"/>
            <a:ext cx="6191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Current evidence</a:t>
            </a:r>
          </a:p>
          <a:p xmlns:a="http://schemas.openxmlformats.org/drawingml/2006/main">
            <a: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Automated tests • implemented flows • repository documentation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FB1CB-E94D-49B6-87E5-C10D3F87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A4F4F"/>
                </a:solidFill>
                <a:latin typeface="Calibri"/>
                <a:ea typeface="Calibri"/>
                <a:cs typeface="Calibri"/>
              </a:rPr>
              <a:t>No user satisfaction score is claimed without collected participant data</a:t>
            </a:r>
          </a:p>
        </p:txBody>
      </p:sp>
    </p:spTree>
    <p:extLst>
      <p:ext uri="{BB962C8B-B14F-4D97-AF65-F5344CB8AC3E}">
        <p14:creationId xmlns:p14="http://schemas.microsoft.com/office/powerpoint/2010/main" val="211659592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BC423EA-988D-448F-9192-77A15888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178742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Objective-by-Objective Evaluation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30B522-F716-406B-896C-2EA413E9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B9BCF11-CD55-45BA-A0E8-58CC00F4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5F823-20B9-4907-94D7-49170DB5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476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Marketplace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7B86A-FDEB-4377-9956-CB97CC59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81125"/>
            <a:ext cx="5619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Mobile + web flows, listings, search,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C4A3C-D110-4033-AB05-16F21195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81125"/>
            <a:ext cx="2095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ACHIEVED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D85E7-8826-4848-A328-D8F080A5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476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Price forecasting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8E22E-EB7C-4C18-B2F6-75C7D89B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76500"/>
            <a:ext cx="5619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FastAPI + XGBoost + uncertainty bounds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9B60D-1079-4EF1-9DE0-338AD21E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2095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ACHIEVED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0E6D3-DADD-49E3-904E-578888AB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2476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Availability forecasting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1F6FE-A2AA-493A-9C7D-C2200CE8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71875"/>
            <a:ext cx="5619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No implemented availability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8E2BB-5D35-4139-906B-78518614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71875"/>
            <a:ext cx="2095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AA3E8-4D48-4569-B373-2B47F1DE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476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Validated usability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402DF-24B1-4859-B4FB-775E923A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67250"/>
            <a:ext cx="5619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Formal participant study not completed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F9303-C56F-40DE-B98F-95B444B0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67250"/>
            <a:ext cx="2095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PENDING</a:t>
            </a:r>
          </a:p>
        </p:txBody>
      </p:sp>
    </p:spTree>
    <p:extLst>
      <p:ext uri="{BB962C8B-B14F-4D97-AF65-F5344CB8AC3E}">
        <p14:creationId xmlns:p14="http://schemas.microsoft.com/office/powerpoint/2010/main" val="188186980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92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702184F-4C0C-4948-B14B-635F5778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5277167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4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Individual Contributions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BE37EE-B6EA-449A-A44B-2BA3EA10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0AB9C48-58C1-45A1-852C-ADD81080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44EC9-1EFA-458D-983D-E87A3292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00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D7E0EC"/>
                </a:solidFill>
                <a:latin typeface="Calibri"/>
                <a:ea typeface="Calibri"/>
                <a:cs typeface="Calibri"/>
              </a:rPr>
              <a:t>MWALE Jonathan: mobile application and machine-learning service</a:t>
            </a:r>
          </a:p>
        </p:txBody>
      </p:sp>
    </p:spTree>
    <p:extLst>
      <p:ext uri="{BB962C8B-B14F-4D97-AF65-F5344CB8AC3E}">
        <p14:creationId xmlns:p14="http://schemas.microsoft.com/office/powerpoint/2010/main" val="143614200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46410-C538-4443-BEAA-1219AEDBE995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 flipV="1">
            <a:off x="6858000" y="3476625"/>
            <a:ext cx="1714500" cy="145256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D687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2054B-8FC4-4328-B9B7-A5AB8C4E0EE8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>
            <a:off x="6858000" y="1928813"/>
            <a:ext cx="1714500" cy="154781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6843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A8A79-4415-4DE7-8CE2-B2BCDA00B02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3238500" y="3476625"/>
            <a:ext cx="1714500" cy="145256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90230-9F71-4886-BC61-B177750F620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3238500" y="1928813"/>
            <a:ext cx="1714500" cy="154781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E7859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EAC329B-7A0D-4761-AA84-A9F4C6BC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743643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Individual Contributions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0389978-BB5A-4B05-9C87-7704149C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B00BD9E-FD54-4597-875E-5F4AEAF8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9E74A-B779-47FA-9353-9AA7DC31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4125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Jonathan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EA351-BD74-44C8-BF1D-3C8E3A20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Mobile 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9C93E-812C-4B6F-B9E8-6CE560E7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Marketplace integration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AC1A9-F13F-4174-9198-DB01D0AA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ML research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0FC78-75FA-48DD-A1F3-15379280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29125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5D687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Forecast API</a:t>
            </a:r>
          </a:p>
        </p:txBody>
      </p:sp>
    </p:spTree>
    <p:extLst>
      <p:ext uri="{BB962C8B-B14F-4D97-AF65-F5344CB8AC3E}">
        <p14:creationId xmlns:p14="http://schemas.microsoft.com/office/powerpoint/2010/main" val="200845481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5B4A072-B3B3-427A-9A26-3D2DAA61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17715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Individual Technical Contributions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8B0F76F-8D7D-4761-8CA7-06CE7632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D237B6E-3FDD-4940-AE3F-EA662786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544B1-6962-4C5D-9B0D-630DD3A5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381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Mobile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B692A-855F-4373-9D5D-35CBF498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381250" cy="242887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Expo Router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SecureStore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Maps + image upload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3F22F-BC6D-4B24-B431-57521D71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76375"/>
            <a:ext cx="2381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8C9EA-7AFA-470E-85A4-8949CA7D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2381250" cy="242887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CRISP-DM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feature engineering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XGBoost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38611-60D9-4586-90ED-6AFE95A3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2381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314E7-474C-4A98-B61A-3F1309B3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2381250" cy="242887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FastAPI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model matching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prediction bounds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7293A-C207-4423-8F29-E84878B2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76375"/>
            <a:ext cx="2381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7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66AEF-46F2-4389-905A-9943A0F3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38375"/>
            <a:ext cx="2381250" cy="242887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5D687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Jest contracts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pytest API suite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documentation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818E3-5EB8-4136-85D8-EDEA9A03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91125"/>
            <a:ext cx="895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Collaborative boundary: web and backend services provide the marketplace contracts consumed by the mobile app</a:t>
            </a:r>
          </a:p>
        </p:txBody>
      </p:sp>
    </p:spTree>
    <p:extLst>
      <p:ext uri="{BB962C8B-B14F-4D97-AF65-F5344CB8AC3E}">
        <p14:creationId xmlns:p14="http://schemas.microsoft.com/office/powerpoint/2010/main" val="99113605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192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BB1E031-56CE-449A-B072-C3747B01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395855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4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Discussion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ADB2FCC-0711-484D-B49F-BA11DE0C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E2FF973-C2AF-49AC-936A-84DF5A67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F79F6-327B-490E-BE67-291E9326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00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D7E0EC"/>
                </a:solidFill>
                <a:latin typeface="Calibri"/>
                <a:ea typeface="Calibri"/>
                <a:cs typeface="Calibri"/>
              </a:rPr>
              <a:t>What the implementation and evaluation evidence mean</a:t>
            </a:r>
          </a:p>
        </p:txBody>
      </p:sp>
    </p:spTree>
    <p:extLst>
      <p:ext uri="{BB962C8B-B14F-4D97-AF65-F5344CB8AC3E}">
        <p14:creationId xmlns:p14="http://schemas.microsoft.com/office/powerpoint/2010/main" val="210454870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C751FE9-E05C-4DBB-9CBB-C626C3BC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410268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Discussion of Findings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18C86B-EEAA-412A-9627-16728CAF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B58CB8D-77C7-4455-AF30-A094A225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09C08-6E7E-4C9F-A26A-8D6E25B3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143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Marketplace finding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7F992-D049-4AA4-AE9B-C1223D87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4857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7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Direct discovery, comparison, contact, maps, and listing management now operate through shared APIs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53DCE-3FB8-4F64-B421-34E661D8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3143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Forecasting finding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92E63-44B0-470C-B170-7E882DF1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86000"/>
            <a:ext cx="4857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DD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7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The model beats the naive test baseline, but misses the 10% test-MAPE target and produces wide intervals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161A5-4E13-43B7-80ED-375CE23D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953000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80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9A4F4F"/>
                </a:solidFill>
                <a:latin typeface="Calibri"/>
                <a:ea typeface="Calibri"/>
                <a:cs typeface="Calibri"/>
              </a:rPr>
              <a:t>Decision support is appropriate; guaranteed-price language is not</a:t>
            </a:r>
          </a:p>
        </p:txBody>
      </p:sp>
    </p:spTree>
    <p:extLst>
      <p:ext uri="{BB962C8B-B14F-4D97-AF65-F5344CB8AC3E}">
        <p14:creationId xmlns:p14="http://schemas.microsoft.com/office/powerpoint/2010/main" val="13815414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6C14C52-D08D-44AC-B4F4-E0DAE2C0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324543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Project Contributions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158EDB-6635-48C9-BAD9-4A3C5AB9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E2CCF4F-D061-4CE3-81A2-F1C31822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CA931-CF1E-41AA-905C-FF98E63E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57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0F839-E5CD-40EA-81FC-F50F5724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381125"/>
            <a:ext cx="2000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Technical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5A0B4-73EC-44A1-8458-3A9F6DBB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7143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16C98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Integrated mobile, web, marketplace API, and forecasting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4C9AA-3862-4A2A-B435-FC0B4444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527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B5773-265C-481F-B94D-CDFD46EA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76500"/>
            <a:ext cx="2000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Practical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DDCFB-C6A6-4D9B-B8F3-ED488EFE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76500"/>
            <a:ext cx="7143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Supplier discovery, price comparison, and direct contact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CC068-261F-4A7C-AA29-B9313265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480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9A3BF-96D8-4B33-AEAE-74EE843B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71875"/>
            <a:ext cx="2000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F61A3-38F1-4818-AA27-AE0DF8CA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71875"/>
            <a:ext cx="7143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Evaluated province × commodity forecasting on Zambian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268C5-04E0-4FD0-B301-6C94C4A9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43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876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0B403-87B0-4875-B112-9A794252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2000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7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Engineering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1AB16-BE6D-404C-A331-CF63005A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7143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5D687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Reproducible model artifacts, tests, and deployment paths</a:t>
            </a:r>
          </a:p>
        </p:txBody>
      </p:sp>
    </p:spTree>
    <p:extLst>
      <p:ext uri="{BB962C8B-B14F-4D97-AF65-F5344CB8AC3E}">
        <p14:creationId xmlns:p14="http://schemas.microsoft.com/office/powerpoint/2010/main" val="40309577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A7804C-C013-457E-A93E-BC5E5C06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81800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Limitations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13E918B-2818-4834-BD80-93C911BF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C6B9E1E-14EC-4070-85B6-D135E463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68CB8-1561-437F-A9DC-E3159DCA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8EBF6-CDCF-4EDE-8B79-F57D8CD0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4763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725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68432"/>
                </a:solidFill>
                <a:latin typeface="Calibri"/>
                <a:ea typeface="Calibri"/>
                <a:cs typeface="Calibri"/>
              </a:rPr>
              <a:t>Forecast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282EA-F980-45B9-9AC2-8032AB5C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47875"/>
            <a:ext cx="409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Some price series are historical or stale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6DF19-22E4-44C8-942C-BCFE370C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F4F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76A53-75E6-4D5B-B0CB-07519BC4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63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725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9A4F4F"/>
                </a:solidFill>
                <a:latin typeface="Calibri"/>
                <a:ea typeface="Calibri"/>
                <a:cs typeface="Calibri"/>
              </a:rPr>
              <a:t>Uncertainty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B0801-5EB6-458A-A95A-9CDD6933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9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Average 90% interval width is about 70% of forecast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481A9-3FB4-4BEE-B8C2-E416A71C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876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0C19B-DC42-4DB2-8A70-01A2773B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6671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725" b="1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C1F68-5047-4661-BEFB-E884359E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38625"/>
            <a:ext cx="409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Availability prediction, payments, and delivery remain outside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DC52D-3A57-47C4-B322-45B7DEC0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27A45-08F4-4A7E-8E0E-2D556E02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725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416C98"/>
                </a:solidFill>
                <a:latin typeface="Calibri"/>
                <a:ea typeface="Calibri"/>
                <a:cs typeface="Calibri"/>
              </a:rPr>
              <a:t>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CB71A-3C9E-4553-960B-F8133809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38625"/>
            <a:ext cx="409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No completed field-user study or SUS score</a:t>
            </a:r>
          </a:p>
        </p:txBody>
      </p:sp>
    </p:spTree>
    <p:extLst>
      <p:ext uri="{BB962C8B-B14F-4D97-AF65-F5344CB8AC3E}">
        <p14:creationId xmlns:p14="http://schemas.microsoft.com/office/powerpoint/2010/main" val="71989029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192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C1FD92E-1B29-43F9-9868-194CDF89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483168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4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48DAE5-44B1-4666-909D-1D82555D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0E36BED-6433-49EB-AED1-24850C82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0A976-0DE9-4CA9-A831-BCC62E77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00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D7E0EC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D7E0EC"/>
                </a:solidFill>
                <a:latin typeface="Calibri"/>
                <a:ea typeface="Calibri"/>
                <a:cs typeface="Calibri"/>
              </a:rPr>
              <a:t>A working integrated marketplace with measurable forecasting value and clear next steps</a:t>
            </a:r>
          </a:p>
        </p:txBody>
      </p:sp>
    </p:spTree>
    <p:extLst>
      <p:ext uri="{BB962C8B-B14F-4D97-AF65-F5344CB8AC3E}">
        <p14:creationId xmlns:p14="http://schemas.microsoft.com/office/powerpoint/2010/main" val="78642949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3CD10-17A2-41CC-B25E-E57F924ED2F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07830" y="3095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29D56-1B2B-4323-AC50-1CB2611A86A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90410" y="3095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69721-F81E-4861-AD7D-D04A3780387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72990" y="3095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70584-5B5E-4BD4-85EE-11965AD1903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55570" y="3095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AEE5FF4-456A-43DD-B760-B8F6418A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718117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Project Summary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1EDB96-8F91-4375-B55D-289D8438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9CA73A3-98D2-4D01-A102-BD5EEBF5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F81A6-11EC-4704-82E5-7A38891B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98882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Problem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fragmented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6D557-1A60-4F57-BDD9-01746E26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381250"/>
            <a:ext cx="198882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Approach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Agile + CRISP-DM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A7FF5-2BD6-4130-9072-57B12462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2381250"/>
            <a:ext cx="198882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Solution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4 components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B6923-DFD3-4981-9704-3D981D92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2381250"/>
            <a:ext cx="198882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Evidence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26/27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079F5-1816-46AF-8DC6-C296612C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381250"/>
            <a:ext cx="198882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Result</a:t>
            </a:r>
          </a:p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marketplace + forecasts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969BF-E718-4344-A405-89E667C9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6250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AgriMart joins transaction discovery and price intelligence in one cross-platform system</a:t>
            </a:r>
          </a:p>
        </p:txBody>
      </p:sp>
    </p:spTree>
    <p:extLst>
      <p:ext uri="{BB962C8B-B14F-4D97-AF65-F5344CB8AC3E}">
        <p14:creationId xmlns:p14="http://schemas.microsoft.com/office/powerpoint/2010/main" val="32615147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6BF793C-7534-4A8F-9D23-5052864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413575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Achievement of Objectives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81EE69-FC00-4426-B24E-2A7201B5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F9BDF7D-E50B-46AB-87EC-E656B76C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8AF68-26C5-4879-B250-A88C8EFB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Marketplace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E3E8F-B88F-4301-B4ED-C434AF35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0495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329E1-1A88-4DA7-957F-8763899E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0495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A4C91-62AA-4A0A-A3FE-732CBF6F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Implemented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5746E-D8CE-4C7B-A580-93FD7553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Nearby 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16D7B-408E-467A-A0C5-B862F657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00325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D8684-565B-48DE-B860-65F24A76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00325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5DE49-D982-4179-9BA6-40AEE4B4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24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Implemented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804ED-3BBC-4F8B-9F27-10EB02E0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Price forecasts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8C6D1-DFCE-48AE-821C-4765B52E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9570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85EE5-349E-4042-B4E1-D12E3D3B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9570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EABC1D-D36B-45AA-BAC5-636A5B2F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Implemented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91D70-D092-4953-B4E9-E82E7E98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Availability forecast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F8B6BD-7281-447B-9360-1B3922AE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91075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9255F5-98A9-43D1-B146-BD6F1E99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91075"/>
            <a:ext cx="135731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B68432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BAA2C-B76A-4CCD-8A25-1506AB49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14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350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B68432"/>
                </a:solidFill>
                <a:latin typeface="Calibri"/>
                <a:ea typeface="Calibri"/>
                <a:cs typeface="Calibri"/>
              </a:rPr>
              <a:t>Not implemented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229FC6-03F7-4567-8FF8-3135AC68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768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Overall: the core marketplace and price-prediction objectives are delivered; availability prediction remains future work</a:t>
            </a:r>
          </a:p>
        </p:txBody>
      </p:sp>
    </p:spTree>
    <p:extLst>
      <p:ext uri="{BB962C8B-B14F-4D97-AF65-F5344CB8AC3E}">
        <p14:creationId xmlns:p14="http://schemas.microsoft.com/office/powerpoint/2010/main" val="193006582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EBEC718-7E19-4070-B688-B9BEC4C7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93560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Recommendations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0EC65E-28BF-41A4-BAD9-4BFD2970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6EB080-AB15-4305-B153-0F602FBE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D7A78-FB42-4A70-973A-70FE1817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C98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93294-E94D-4736-A26D-25FAFEF5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716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725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416C98"/>
                </a:solidFill>
                <a:latin typeface="Calibri"/>
                <a:ea typeface="Calibri"/>
                <a:cs typeface="Calibri"/>
              </a:rPr>
              <a:t>Refresh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E2B28-F4E8-4EFF-9C49-B7592A83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Establish a current, continuous market-price feed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18911-C2F3-406F-8D67-72BDC19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59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3BE71-9498-422E-9C2E-B94C8BCC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5716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725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4E785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4E7859"/>
                </a:solidFill>
                <a:latin typeface="Calibri"/>
                <a:ea typeface="Calibri"/>
                <a:cs typeface="Calibri"/>
              </a:rPr>
              <a:t>Validate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FB16F-2E2A-4360-A96A-86FBD4EE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955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Run task-based sessions with farmers and buyers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5C728-1DED-49D9-B9DC-42CBC133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4F4F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AF8F1-9B79-420B-8D40-672683DE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671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725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9A4F4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9A4F4F"/>
                </a:solidFill>
                <a:latin typeface="Calibri"/>
                <a:ea typeface="Calibri"/>
                <a:cs typeface="Calibri"/>
              </a:rPr>
              <a:t>Harden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E5832-4D1F-45B2-8BB6-6DAE8D95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Resolve upload-test timeout and standardize hosted 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79A9E-7583-4B23-9A7B-F58648B4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67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8432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FE683-A694-4246-9F41-5BABB5C4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671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725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68432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68432"/>
                </a:solidFill>
                <a:latin typeface="Calibri"/>
                <a:ea typeface="Calibri"/>
                <a:cs typeface="Calibri"/>
              </a:rPr>
              <a:t>Monitor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26617-D028-4710-92C3-F28E0C6B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910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A9B6C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3232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32323"/>
                </a:solidFill>
                <a:latin typeface="Calibri"/>
                <a:ea typeface="Calibri"/>
                <a:cs typeface="Calibri"/>
              </a:rPr>
              <a:t>Track error by commodity and flag stale series</a:t>
            </a:r>
          </a:p>
        </p:txBody>
      </p:sp>
    </p:spTree>
    <p:extLst>
      <p:ext uri="{BB962C8B-B14F-4D97-AF65-F5344CB8AC3E}">
        <p14:creationId xmlns:p14="http://schemas.microsoft.com/office/powerpoint/2010/main" val="18624840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C91AE-1644-419D-B1F7-0313AFF0552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05925" y="30956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91328-DA71-43A7-8298-B99DA06A7A1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86600" y="30956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08ABD-02CA-456C-AA72-AFC405C95A7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67275" y="30956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E3C40-0A74-48AC-B931-5386A86E67F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47950" y="30956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16C9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74EF90E-15F5-4035-87B2-8463EF50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203073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Future Work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C0941E-980C-4F67-9439-1C619673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A7E8FAE-9772-4682-8946-6A31146F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49467-D5FA-4109-A575-4B330F02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9812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Fresh data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DED4C-5085-43E8-8437-8615F171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428875"/>
            <a:ext cx="19812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4288">
            <a:solidFill>
              <a:srgbClr val="4E7859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Availability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18B72-9B96-4211-90D3-0B7A13E5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28875"/>
            <a:ext cx="19812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Local languages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62735-EDBE-4AB4-8500-D9325B47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28875"/>
            <a:ext cx="19812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Payments + delivery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36D6C-EC3F-4D02-874C-EED01AB7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28875"/>
            <a:ext cx="19812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A9B6C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Production analytics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CD3AD-6678-4DEF-83B7-D5002A73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24375"/>
            <a:ext cx="7239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Priority order</a:t>
            </a:r>
          </a:p>
          <a:p xmlns:a="http://schemas.openxmlformats.org/drawingml/2006/main">
            <a:pPr algn="ctr">
              <a:defRPr sz="1575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Data freshness → availability forecasting → field validation → commercial expansion</a:t>
            </a:r>
          </a:p>
        </p:txBody>
      </p:sp>
    </p:spTree>
    <p:extLst>
      <p:ext uri="{BB962C8B-B14F-4D97-AF65-F5344CB8AC3E}">
        <p14:creationId xmlns:p14="http://schemas.microsoft.com/office/powerpoint/2010/main" val="13759254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F804678-B5A9-4762-A5AB-CF832066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3927793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80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Questions and Discussion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06C7FE-0B81-4165-AEBA-78BCBC33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916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3BF6822-21F3-4442-9F41-2A17D52A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74536"/>
            <a:ext cx="3103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 algn="l"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Year Project • Academic Year 2026                                      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28BBD-BFD4-49C1-91F1-BF07E95E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D4B"/>
          </a:solidFill>
          <a:ln xmlns:a="http://schemas.openxmlformats.org/drawingml/2006/main" w="14288">
            <a:solidFill>
              <a:srgbClr val="192D4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>
            <a:defPPr algn="ctr">
              <a:defRPr sz="6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6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C17D8-5445-4359-ADC3-340C1358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28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Thank you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2BA66-6535-4671-B535-7857146F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609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2175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416C98"/>
                </a:solidFill>
                <a:latin typeface="Calibri"/>
                <a:ea typeface="Calibri"/>
                <a:cs typeface="Calibri"/>
              </a:rPr>
              <a:t>Mobile and Web Application for</a:t>
            </a:r>
          </a:p>
          <a:p xmlns:a="http://schemas.openxmlformats.org/drawingml/2006/main">
            <a:pPr algn="ctr">
              <a:defRPr sz="2175" b="1">
                <a:solidFill>
                  <a:srgbClr val="416C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416C98"/>
                </a:solidFill>
                <a:latin typeface="Calibri"/>
                <a:ea typeface="Calibri"/>
                <a:cs typeface="Calibri"/>
              </a:rPr>
              <a:t>Agricultural Marketplace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25A5C-CAA0-461C-8485-3C684294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6096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9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92D4B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92D4B"/>
                </a:solidFill>
                <a:latin typeface="Calibri"/>
                <a:ea typeface="Calibri"/>
                <a:cs typeface="Calibri"/>
              </a:rPr>
              <a:t>Questions and discussion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33045-519A-49EE-A40F-F8404ECF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>
            <a:defPPr algn="ctr">
              <a:defRPr sz="142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5D687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876"/>
                </a:solidFill>
                <a:latin typeface="Calibri"/>
                <a:ea typeface="Calibri"/>
                <a:cs typeface="Calibri"/>
              </a:rPr>
              <a:t>MWALE Jonathan • 2021512967</a:t>
            </a:r>
          </a:p>
        </p:txBody>
      </p:sp>
    </p:spTree>
    <p:extLst>
      <p:ext uri="{BB962C8B-B14F-4D97-AF65-F5344CB8AC3E}">
        <p14:creationId xmlns:p14="http://schemas.microsoft.com/office/powerpoint/2010/main" val="200801789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2026-10-17T19:38:57.1790000Z</dcterms:created>
  <dcterms:modified xsi:type="dcterms:W3CDTF">2026-10-17T19:38:57.1790000Z</dcterms:modified>
</coreProperties>
</file>