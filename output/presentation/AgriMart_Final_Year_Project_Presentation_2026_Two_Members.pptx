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7e8fe3c9f94882" /><Relationship Type="http://schemas.openxmlformats.org/officeDocument/2006/relationships/extended-properties" Target="/docProps/app.xml" Id="R02dc132310204bbf" /><Relationship Type="http://schemas.openxmlformats.org/officeDocument/2006/relationships/officeDocument" Target="/ppt/presentation.xml" Id="R57c1949b999b40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637492155549f3"/>
  </p:sldMasterIdLst>
  <p:notesMasterIdLst>
    <p:notesMasterId xmlns:r="http://schemas.openxmlformats.org/officeDocument/2006/relationships" r:id="R54bad762d00b4cce"/>
  </p:notesMasterIdLst>
  <p:sldIdLst>
    <p:sldId xmlns:r="http://schemas.openxmlformats.org/officeDocument/2006/relationships" id="256" r:id="R3b0a9f99916e41b6"/>
    <p:sldId xmlns:r="http://schemas.openxmlformats.org/officeDocument/2006/relationships" id="257" r:id="Rdd5683e50f65446b"/>
    <p:sldId xmlns:r="http://schemas.openxmlformats.org/officeDocument/2006/relationships" id="258" r:id="R4d5f337a0d844306"/>
    <p:sldId xmlns:r="http://schemas.openxmlformats.org/officeDocument/2006/relationships" id="259" r:id="R0ade708a411e4136"/>
    <p:sldId xmlns:r="http://schemas.openxmlformats.org/officeDocument/2006/relationships" id="260" r:id="R19235654de944aec"/>
    <p:sldId xmlns:r="http://schemas.openxmlformats.org/officeDocument/2006/relationships" id="261" r:id="R35af25516bfd4472"/>
    <p:sldId xmlns:r="http://schemas.openxmlformats.org/officeDocument/2006/relationships" id="262" r:id="R7adc67da725441ab"/>
    <p:sldId xmlns:r="http://schemas.openxmlformats.org/officeDocument/2006/relationships" id="263" r:id="Rd69826a27d3740d7"/>
    <p:sldId xmlns:r="http://schemas.openxmlformats.org/officeDocument/2006/relationships" id="264" r:id="Ra243a42ec0304686"/>
    <p:sldId xmlns:r="http://schemas.openxmlformats.org/officeDocument/2006/relationships" id="265" r:id="R72abca499bf44d71"/>
    <p:sldId xmlns:r="http://schemas.openxmlformats.org/officeDocument/2006/relationships" id="266" r:id="R164f20cf047a4159"/>
    <p:sldId xmlns:r="http://schemas.openxmlformats.org/officeDocument/2006/relationships" id="267" r:id="R7e1600c2ac2241f9"/>
    <p:sldId xmlns:r="http://schemas.openxmlformats.org/officeDocument/2006/relationships" id="268" r:id="Rbf4771edc5ad4f6e"/>
    <p:sldId xmlns:r="http://schemas.openxmlformats.org/officeDocument/2006/relationships" id="269" r:id="R9567a21c84574601"/>
    <p:sldId xmlns:r="http://schemas.openxmlformats.org/officeDocument/2006/relationships" id="270" r:id="Rdfdc2996b2434057"/>
    <p:sldId xmlns:r="http://schemas.openxmlformats.org/officeDocument/2006/relationships" id="271" r:id="R977c76fcac194e9c"/>
    <p:sldId xmlns:r="http://schemas.openxmlformats.org/officeDocument/2006/relationships" id="272" r:id="R1de886feb9f24de9"/>
    <p:sldId xmlns:r="http://schemas.openxmlformats.org/officeDocument/2006/relationships" id="273" r:id="Rb5b31f12c8504a6f"/>
    <p:sldId xmlns:r="http://schemas.openxmlformats.org/officeDocument/2006/relationships" id="274" r:id="Rfa4d9312de254451"/>
    <p:sldId xmlns:r="http://schemas.openxmlformats.org/officeDocument/2006/relationships" id="275" r:id="Reb7cfb893cca45db"/>
    <p:sldId xmlns:r="http://schemas.openxmlformats.org/officeDocument/2006/relationships" id="276" r:id="R0e2008f554f347d2"/>
    <p:sldId xmlns:r="http://schemas.openxmlformats.org/officeDocument/2006/relationships" id="277" r:id="R01a57f2c4bbd4a38"/>
    <p:sldId xmlns:r="http://schemas.openxmlformats.org/officeDocument/2006/relationships" id="278" r:id="Rb2d980c98b4a4b85"/>
    <p:sldId xmlns:r="http://schemas.openxmlformats.org/officeDocument/2006/relationships" id="279" r:id="Rf2c3c85f5507410c"/>
    <p:sldId xmlns:r="http://schemas.openxmlformats.org/officeDocument/2006/relationships" id="280" r:id="R0bd394b8f4a84de8"/>
    <p:sldId xmlns:r="http://schemas.openxmlformats.org/officeDocument/2006/relationships" id="281" r:id="R8138c8a9523c49b1"/>
    <p:sldId xmlns:r="http://schemas.openxmlformats.org/officeDocument/2006/relationships" id="282" r:id="Ra22c4f3004374174"/>
    <p:sldId xmlns:r="http://schemas.openxmlformats.org/officeDocument/2006/relationships" id="283" r:id="Rf11ef7b5dfe341b5"/>
    <p:sldId xmlns:r="http://schemas.openxmlformats.org/officeDocument/2006/relationships" id="284" r:id="Ree4fd0790bcf4ee0"/>
    <p:sldId xmlns:r="http://schemas.openxmlformats.org/officeDocument/2006/relationships" id="285" r:id="Rb02375ab1fe94edd"/>
    <p:sldId xmlns:r="http://schemas.openxmlformats.org/officeDocument/2006/relationships" id="286" r:id="R3eff5bb675e741b3"/>
    <p:sldId xmlns:r="http://schemas.openxmlformats.org/officeDocument/2006/relationships" id="287" r:id="Re088e3f4271a43b7"/>
    <p:sldId xmlns:r="http://schemas.openxmlformats.org/officeDocument/2006/relationships" id="288" r:id="R7672867916c14d58"/>
    <p:sldId xmlns:r="http://schemas.openxmlformats.org/officeDocument/2006/relationships" id="289" r:id="R6bb6e1b8255e4846"/>
    <p:sldId xmlns:r="http://schemas.openxmlformats.org/officeDocument/2006/relationships" id="290" r:id="Rcfae68fb4fab460a"/>
    <p:sldId xmlns:r="http://schemas.openxmlformats.org/officeDocument/2006/relationships" id="291" r:id="Ree922358f2ff49f8"/>
    <p:sldId xmlns:r="http://schemas.openxmlformats.org/officeDocument/2006/relationships" id="292" r:id="R538a3972336b421c"/>
    <p:sldId xmlns:r="http://schemas.openxmlformats.org/officeDocument/2006/relationships" id="293" r:id="R15c8705080a84b57"/>
    <p:sldId xmlns:r="http://schemas.openxmlformats.org/officeDocument/2006/relationships" id="294" r:id="R95a0110d32164bc8"/>
    <p:sldId xmlns:r="http://schemas.openxmlformats.org/officeDocument/2006/relationships" id="295" r:id="R3cf0054cfb564dbe"/>
    <p:sldId xmlns:r="http://schemas.openxmlformats.org/officeDocument/2006/relationships" id="296" r:id="R355784f8c14a432f"/>
    <p:sldId xmlns:r="http://schemas.openxmlformats.org/officeDocument/2006/relationships" id="297" r:id="Rcebdfd6cc2114ea1"/>
    <p:sldId xmlns:r="http://schemas.openxmlformats.org/officeDocument/2006/relationships" id="298" r:id="R33c6db4afc1e46f1"/>
    <p:sldId xmlns:r="http://schemas.openxmlformats.org/officeDocument/2006/relationships" id="299" r:id="Rb4aed473b01d4c5f"/>
    <p:sldId xmlns:r="http://schemas.openxmlformats.org/officeDocument/2006/relationships" id="300" r:id="Rcdd454680ae14edf"/>
    <p:sldId xmlns:r="http://schemas.openxmlformats.org/officeDocument/2006/relationships" id="301" r:id="Rc68f3a0af4fd4c9c"/>
    <p:sldId xmlns:r="http://schemas.openxmlformats.org/officeDocument/2006/relationships" id="302" r:id="R9f97e7a551154da9"/>
    <p:sldId xmlns:r="http://schemas.openxmlformats.org/officeDocument/2006/relationships" id="303" r:id="R1a3dc62a2967416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ac705ddf7d4c57" /><Relationship Type="http://schemas.openxmlformats.org/officeDocument/2006/relationships/slideMaster" Target="/ppt/slideMasters/slideMaster1.xml" Id="R05637492155549f3" /><Relationship Type="http://schemas.openxmlformats.org/officeDocument/2006/relationships/notesMaster" Target="/ppt/notesMasters/notesMaster1.xml" Id="R54bad762d00b4cce" /><Relationship Type="http://schemas.openxmlformats.org/officeDocument/2006/relationships/presProps" Target="/ppt/presProps.xml" Id="R5c122c5f4a8a41df" /><Relationship Type="http://schemas.openxmlformats.org/officeDocument/2006/relationships/viewProps" Target="/ppt/viewProps.xml" Id="R8a49768426294fd6" /><Relationship Type="http://schemas.openxmlformats.org/officeDocument/2006/relationships/tableStyles" Target="/ppt/tableStyles.xml" Id="Rb988b7fb17554d58" /><Relationship Type="http://schemas.openxmlformats.org/officeDocument/2006/relationships/slide" Target="/ppt/slides/slide1.xml" Id="R3b0a9f99916e41b6" /><Relationship Type="http://schemas.openxmlformats.org/officeDocument/2006/relationships/slide" Target="/ppt/slides/slide2.xml" Id="Rdd5683e50f65446b" /><Relationship Type="http://schemas.openxmlformats.org/officeDocument/2006/relationships/slide" Target="/ppt/slides/slide3.xml" Id="R4d5f337a0d844306" /><Relationship Type="http://schemas.openxmlformats.org/officeDocument/2006/relationships/slide" Target="/ppt/slides/slide4.xml" Id="R0ade708a411e4136" /><Relationship Type="http://schemas.openxmlformats.org/officeDocument/2006/relationships/slide" Target="/ppt/slides/slide5.xml" Id="R19235654de944aec" /><Relationship Type="http://schemas.openxmlformats.org/officeDocument/2006/relationships/slide" Target="/ppt/slides/slide6.xml" Id="R35af25516bfd4472" /><Relationship Type="http://schemas.openxmlformats.org/officeDocument/2006/relationships/slide" Target="/ppt/slides/slide7.xml" Id="R7adc67da725441ab" /><Relationship Type="http://schemas.openxmlformats.org/officeDocument/2006/relationships/slide" Target="/ppt/slides/slide8.xml" Id="Rd69826a27d3740d7" /><Relationship Type="http://schemas.openxmlformats.org/officeDocument/2006/relationships/slide" Target="/ppt/slides/slide9.xml" Id="Ra243a42ec0304686" /><Relationship Type="http://schemas.openxmlformats.org/officeDocument/2006/relationships/slide" Target="/ppt/slides/slide10.xml" Id="R72abca499bf44d71" /><Relationship Type="http://schemas.openxmlformats.org/officeDocument/2006/relationships/slide" Target="/ppt/slides/slide11.xml" Id="R164f20cf047a4159" /><Relationship Type="http://schemas.openxmlformats.org/officeDocument/2006/relationships/slide" Target="/ppt/slides/slide12.xml" Id="R7e1600c2ac2241f9" /><Relationship Type="http://schemas.openxmlformats.org/officeDocument/2006/relationships/slide" Target="/ppt/slides/slide13.xml" Id="Rbf4771edc5ad4f6e" /><Relationship Type="http://schemas.openxmlformats.org/officeDocument/2006/relationships/slide" Target="/ppt/slides/slide14.xml" Id="R9567a21c84574601" /><Relationship Type="http://schemas.openxmlformats.org/officeDocument/2006/relationships/slide" Target="/ppt/slides/slide15.xml" Id="Rdfdc2996b2434057" /><Relationship Type="http://schemas.openxmlformats.org/officeDocument/2006/relationships/slide" Target="/ppt/slides/slide16.xml" Id="R977c76fcac194e9c" /><Relationship Type="http://schemas.openxmlformats.org/officeDocument/2006/relationships/slide" Target="/ppt/slides/slide17.xml" Id="R1de886feb9f24de9" /><Relationship Type="http://schemas.openxmlformats.org/officeDocument/2006/relationships/slide" Target="/ppt/slides/slide18.xml" Id="Rb5b31f12c8504a6f" /><Relationship Type="http://schemas.openxmlformats.org/officeDocument/2006/relationships/slide" Target="/ppt/slides/slide19.xml" Id="Rfa4d9312de254451" /><Relationship Type="http://schemas.openxmlformats.org/officeDocument/2006/relationships/slide" Target="/ppt/slides/slide20.xml" Id="Reb7cfb893cca45db" /><Relationship Type="http://schemas.openxmlformats.org/officeDocument/2006/relationships/slide" Target="/ppt/slides/slide21.xml" Id="R0e2008f554f347d2" /><Relationship Type="http://schemas.openxmlformats.org/officeDocument/2006/relationships/slide" Target="/ppt/slides/slide22.xml" Id="R01a57f2c4bbd4a38" /><Relationship Type="http://schemas.openxmlformats.org/officeDocument/2006/relationships/slide" Target="/ppt/slides/slide23.xml" Id="Rb2d980c98b4a4b85" /><Relationship Type="http://schemas.openxmlformats.org/officeDocument/2006/relationships/slide" Target="/ppt/slides/slide24.xml" Id="Rf2c3c85f5507410c" /><Relationship Type="http://schemas.openxmlformats.org/officeDocument/2006/relationships/slide" Target="/ppt/slides/slide25.xml" Id="R0bd394b8f4a84de8" /><Relationship Type="http://schemas.openxmlformats.org/officeDocument/2006/relationships/slide" Target="/ppt/slides/slide26.xml" Id="R8138c8a9523c49b1" /><Relationship Type="http://schemas.openxmlformats.org/officeDocument/2006/relationships/slide" Target="/ppt/slides/slide27.xml" Id="Ra22c4f3004374174" /><Relationship Type="http://schemas.openxmlformats.org/officeDocument/2006/relationships/slide" Target="/ppt/slides/slide28.xml" Id="Rf11ef7b5dfe341b5" /><Relationship Type="http://schemas.openxmlformats.org/officeDocument/2006/relationships/slide" Target="/ppt/slides/slide29.xml" Id="Ree4fd0790bcf4ee0" /><Relationship Type="http://schemas.openxmlformats.org/officeDocument/2006/relationships/slide" Target="/ppt/slides/slide30.xml" Id="Rb02375ab1fe94edd" /><Relationship Type="http://schemas.openxmlformats.org/officeDocument/2006/relationships/slide" Target="/ppt/slides/slide31.xml" Id="R3eff5bb675e741b3" /><Relationship Type="http://schemas.openxmlformats.org/officeDocument/2006/relationships/slide" Target="/ppt/slides/slide32.xml" Id="Re088e3f4271a43b7" /><Relationship Type="http://schemas.openxmlformats.org/officeDocument/2006/relationships/slide" Target="/ppt/slides/slide33.xml" Id="R7672867916c14d58" /><Relationship Type="http://schemas.openxmlformats.org/officeDocument/2006/relationships/slide" Target="/ppt/slides/slide34.xml" Id="R6bb6e1b8255e4846" /><Relationship Type="http://schemas.openxmlformats.org/officeDocument/2006/relationships/slide" Target="/ppt/slides/slide35.xml" Id="Rcfae68fb4fab460a" /><Relationship Type="http://schemas.openxmlformats.org/officeDocument/2006/relationships/slide" Target="/ppt/slides/slide36.xml" Id="Ree922358f2ff49f8" /><Relationship Type="http://schemas.openxmlformats.org/officeDocument/2006/relationships/slide" Target="/ppt/slides/slide37.xml" Id="R538a3972336b421c" /><Relationship Type="http://schemas.openxmlformats.org/officeDocument/2006/relationships/slide" Target="/ppt/slides/slide38.xml" Id="R15c8705080a84b57" /><Relationship Type="http://schemas.openxmlformats.org/officeDocument/2006/relationships/slide" Target="/ppt/slides/slide39.xml" Id="R95a0110d32164bc8" /><Relationship Type="http://schemas.openxmlformats.org/officeDocument/2006/relationships/slide" Target="/ppt/slides/slide40.xml" Id="R3cf0054cfb564dbe" /><Relationship Type="http://schemas.openxmlformats.org/officeDocument/2006/relationships/slide" Target="/ppt/slides/slide41.xml" Id="R355784f8c14a432f" /><Relationship Type="http://schemas.openxmlformats.org/officeDocument/2006/relationships/slide" Target="/ppt/slides/slide42.xml" Id="Rcebdfd6cc2114ea1" /><Relationship Type="http://schemas.openxmlformats.org/officeDocument/2006/relationships/slide" Target="/ppt/slides/slide43.xml" Id="R33c6db4afc1e46f1" /><Relationship Type="http://schemas.openxmlformats.org/officeDocument/2006/relationships/slide" Target="/ppt/slides/slide44.xml" Id="Rb4aed473b01d4c5f" /><Relationship Type="http://schemas.openxmlformats.org/officeDocument/2006/relationships/slide" Target="/ppt/slides/slide45.xml" Id="Rcdd454680ae14edf" /><Relationship Type="http://schemas.openxmlformats.org/officeDocument/2006/relationships/slide" Target="/ppt/slides/slide46.xml" Id="Rc68f3a0af4fd4c9c" /><Relationship Type="http://schemas.openxmlformats.org/officeDocument/2006/relationships/slide" Target="/ppt/slides/slide47.xml" Id="R9f97e7a551154da9" /><Relationship Type="http://schemas.openxmlformats.org/officeDocument/2006/relationships/slide" Target="/ppt/slides/slide48.xml" Id="R1a3dc62a296741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75dad970d546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1107b220a645a9" /><Relationship Type="http://schemas.openxmlformats.org/officeDocument/2006/relationships/notesMaster" Target="/ppt/notesMasters/notesMaster1.xml" Id="R444343cfc7c84f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09ceed08284533" /><Relationship Type="http://schemas.openxmlformats.org/officeDocument/2006/relationships/notesMaster" Target="/ppt/notesMasters/notesMaster1.xml" Id="R391f7f7f476b43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b8a4176b4c4010" /><Relationship Type="http://schemas.openxmlformats.org/officeDocument/2006/relationships/notesMaster" Target="/ppt/notesMasters/notesMaster1.xml" Id="Rf8e9c31e97dd47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fbd5e0ee194178" /><Relationship Type="http://schemas.openxmlformats.org/officeDocument/2006/relationships/notesMaster" Target="/ppt/notesMasters/notesMaster1.xml" Id="R14af511ebcdd47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7f460931ef44c6" /><Relationship Type="http://schemas.openxmlformats.org/officeDocument/2006/relationships/notesMaster" Target="/ppt/notesMasters/notesMaster1.xml" Id="R24113f93c1d04c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49f078529941ac" /><Relationship Type="http://schemas.openxmlformats.org/officeDocument/2006/relationships/notesMaster" Target="/ppt/notesMasters/notesMaster1.xml" Id="R39a065860c6348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2a7f36a0994d4e" /><Relationship Type="http://schemas.openxmlformats.org/officeDocument/2006/relationships/notesMaster" Target="/ppt/notesMasters/notesMaster1.xml" Id="R7382d51ad6ce45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f9b83c0f7843bb" /><Relationship Type="http://schemas.openxmlformats.org/officeDocument/2006/relationships/notesMaster" Target="/ppt/notesMasters/notesMaster1.xml" Id="Rcd00efc474fb4c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67b77c4f1b47d6" /><Relationship Type="http://schemas.openxmlformats.org/officeDocument/2006/relationships/notesMaster" Target="/ppt/notesMasters/notesMaster1.xml" Id="R4a87414e86094a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e80f5dc84748a9" /><Relationship Type="http://schemas.openxmlformats.org/officeDocument/2006/relationships/notesMaster" Target="/ppt/notesMasters/notesMaster1.xml" Id="R0ef3feba9a4d44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cf6ed3799046fa" /><Relationship Type="http://schemas.openxmlformats.org/officeDocument/2006/relationships/notesMaster" Target="/ppt/notesMasters/notesMaster1.xml" Id="Rd4e104fc657a47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44bf56376847c7" /><Relationship Type="http://schemas.openxmlformats.org/officeDocument/2006/relationships/notesMaster" Target="/ppt/notesMasters/notesMaster1.xml" Id="R8b61551d795649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a640a4ed3b49f5" /><Relationship Type="http://schemas.openxmlformats.org/officeDocument/2006/relationships/notesMaster" Target="/ppt/notesMasters/notesMaster1.xml" Id="R617f2d6a9d6a43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2efde6c6f64685" /><Relationship Type="http://schemas.openxmlformats.org/officeDocument/2006/relationships/notesMaster" Target="/ppt/notesMasters/notesMaster1.xml" Id="R4ae51d4dda4a43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31ef6ced76449f8" /><Relationship Type="http://schemas.openxmlformats.org/officeDocument/2006/relationships/notesMaster" Target="/ppt/notesMasters/notesMaster1.xml" Id="R4a6127a53ce34a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ef517bd3aeb4c32" /><Relationship Type="http://schemas.openxmlformats.org/officeDocument/2006/relationships/notesMaster" Target="/ppt/notesMasters/notesMaster1.xml" Id="R9bd95e005d7d4bc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07804b3f6654480" /><Relationship Type="http://schemas.openxmlformats.org/officeDocument/2006/relationships/notesMaster" Target="/ppt/notesMasters/notesMaster1.xml" Id="R58443fe7ab4e480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eb000f12f8e45b5" /><Relationship Type="http://schemas.openxmlformats.org/officeDocument/2006/relationships/notesMaster" Target="/ppt/notesMasters/notesMaster1.xml" Id="R49ff35767dbc43d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244d19296874d6c" /><Relationship Type="http://schemas.openxmlformats.org/officeDocument/2006/relationships/notesMaster" Target="/ppt/notesMasters/notesMaster1.xml" Id="Racc7601398544ed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84fbc19f475408a" /><Relationship Type="http://schemas.openxmlformats.org/officeDocument/2006/relationships/notesMaster" Target="/ppt/notesMasters/notesMaster1.xml" Id="Ra469e17363b94ea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2891a8e7101465a" /><Relationship Type="http://schemas.openxmlformats.org/officeDocument/2006/relationships/notesMaster" Target="/ppt/notesMasters/notesMaster1.xml" Id="Re40122f9552c42a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243f800804d4345" /><Relationship Type="http://schemas.openxmlformats.org/officeDocument/2006/relationships/notesMaster" Target="/ppt/notesMasters/notesMaster1.xml" Id="Ra56c9f601939498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74ac5421fcc444e" /><Relationship Type="http://schemas.openxmlformats.org/officeDocument/2006/relationships/notesMaster" Target="/ppt/notesMasters/notesMaster1.xml" Id="R32726bbc362b436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e032edef5cd4a6d" /><Relationship Type="http://schemas.openxmlformats.org/officeDocument/2006/relationships/notesMaster" Target="/ppt/notesMasters/notesMaster1.xml" Id="Rdf5a6e7b8da7476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0c553562c594bb2" /><Relationship Type="http://schemas.openxmlformats.org/officeDocument/2006/relationships/notesMaster" Target="/ppt/notesMasters/notesMaster1.xml" Id="R18b90436cd194ae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dc0c229a87f4a1b" /><Relationship Type="http://schemas.openxmlformats.org/officeDocument/2006/relationships/notesMaster" Target="/ppt/notesMasters/notesMaster1.xml" Id="R17a89c8091b2437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da950a15a6d4772" /><Relationship Type="http://schemas.openxmlformats.org/officeDocument/2006/relationships/notesMaster" Target="/ppt/notesMasters/notesMaster1.xml" Id="Rdb2e64ee7cec495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b0bbcb6ec114dd3" /><Relationship Type="http://schemas.openxmlformats.org/officeDocument/2006/relationships/notesMaster" Target="/ppt/notesMasters/notesMaster1.xml" Id="R926a5b2e2f604d6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6e3725e49e74373" /><Relationship Type="http://schemas.openxmlformats.org/officeDocument/2006/relationships/notesMaster" Target="/ppt/notesMasters/notesMaster1.xml" Id="R14ff75770ff94e3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85b9b1e3f804001" /><Relationship Type="http://schemas.openxmlformats.org/officeDocument/2006/relationships/notesMaster" Target="/ppt/notesMasters/notesMaster1.xml" Id="Rdf841bc7ae91453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49e039b75344526" /><Relationship Type="http://schemas.openxmlformats.org/officeDocument/2006/relationships/notesMaster" Target="/ppt/notesMasters/notesMaster1.xml" Id="R05602481b5dd4f9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753cc15bbc6443f" /><Relationship Type="http://schemas.openxmlformats.org/officeDocument/2006/relationships/notesMaster" Target="/ppt/notesMasters/notesMaster1.xml" Id="Rceaf20cea2c8442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ada12b113414d34" /><Relationship Type="http://schemas.openxmlformats.org/officeDocument/2006/relationships/notesMaster" Target="/ppt/notesMasters/notesMaster1.xml" Id="R13992c10071a440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f7740781da943ee" /><Relationship Type="http://schemas.openxmlformats.org/officeDocument/2006/relationships/notesMaster" Target="/ppt/notesMasters/notesMaster1.xml" Id="Rf405118416f54a2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eaa0d98b810453d" /><Relationship Type="http://schemas.openxmlformats.org/officeDocument/2006/relationships/notesMaster" Target="/ppt/notesMasters/notesMaster1.xml" Id="R093bb5348f9546c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32b7472e80f48cd" /><Relationship Type="http://schemas.openxmlformats.org/officeDocument/2006/relationships/notesMaster" Target="/ppt/notesMasters/notesMaster1.xml" Id="R5f22f728dd384db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49ca13c70d54d02" /><Relationship Type="http://schemas.openxmlformats.org/officeDocument/2006/relationships/notesMaster" Target="/ppt/notesMasters/notesMaster1.xml" Id="Rf81ec49964404f6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489bfb514614bf8" /><Relationship Type="http://schemas.openxmlformats.org/officeDocument/2006/relationships/notesMaster" Target="/ppt/notesMasters/notesMaster1.xml" Id="Ra2ee3de2aeb648e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e16251b9ecb4daa" /><Relationship Type="http://schemas.openxmlformats.org/officeDocument/2006/relationships/notesMaster" Target="/ppt/notesMasters/notesMaster1.xml" Id="Rb18f5bef9783420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db2880be70d4961" /><Relationship Type="http://schemas.openxmlformats.org/officeDocument/2006/relationships/notesMaster" Target="/ppt/notesMasters/notesMaster1.xml" Id="R16b2f51f2af0445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f62e949521e433a" /><Relationship Type="http://schemas.openxmlformats.org/officeDocument/2006/relationships/notesMaster" Target="/ppt/notesMasters/notesMaster1.xml" Id="R595d1c82272c4f7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1191bd924754ba2" /><Relationship Type="http://schemas.openxmlformats.org/officeDocument/2006/relationships/notesMaster" Target="/ppt/notesMasters/notesMaster1.xml" Id="R02299967a68f49a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02426e9384a4e6c" /><Relationship Type="http://schemas.openxmlformats.org/officeDocument/2006/relationships/notesMaster" Target="/ppt/notesMasters/notesMaster1.xml" Id="R5440ce68345747a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7199c444f3748b0" /><Relationship Type="http://schemas.openxmlformats.org/officeDocument/2006/relationships/notesMaster" Target="/ppt/notesMasters/notesMaster1.xml" Id="Rc1e770ab6c5a4a8b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ca554e24e30490e" /><Relationship Type="http://schemas.openxmlformats.org/officeDocument/2006/relationships/notesMaster" Target="/ppt/notesMasters/notesMaster1.xml" Id="R08fc9ca231d9478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0f60610a84e421d" /><Relationship Type="http://schemas.openxmlformats.org/officeDocument/2006/relationships/notesMaster" Target="/ppt/notesMasters/notesMaster1.xml" Id="R997bf45a834b4075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8ad238c289af47f8" /><Relationship Type="http://schemas.openxmlformats.org/officeDocument/2006/relationships/notesMaster" Target="/ppt/notesMasters/notesMaster1.xml" Id="R292e3dd5a3774df5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c5eb9de65aa4834" /><Relationship Type="http://schemas.openxmlformats.org/officeDocument/2006/relationships/notesMaster" Target="/ppt/notesMasters/notesMaster1.xml" Id="R42025ac170d64b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- /home/jojo/Desktop/AgriMart/AgriMart/agri-backend/README.md</a:t>
            </a:r>
          </a:p>
          <a:p xmlns:a="http://schemas.openxmlformats.org/drawingml/2006/main">
            <a:r>
              <a:t>- /home/jojo/Desktop/AgriMart/AgriMart/agrimart-frontend/README.md</a:t>
            </a:r>
          </a:p>
          <a:p xmlns:a="http://schemas.openxmlformats.org/drawingml/2006/main">
            <a:r>
              <a:t>- Git history identifies Chengetai Mtengo as the contributor to the Express and web repository.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- /home/jojo/Projects/mobile-and-web-application-for-agricultural-market-place/ml_service/README.md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- /home/jojo/Projects/mobile-and-web-application-for-agricultural-market-place/ml_service/README.md</a:t>
            </a:r>
          </a:p>
          <a:p xmlns:a="http://schemas.openxmlformats.org/drawingml/2006/main">
            <a:r>
              <a:t>- /home/jojo/Desktop/AgriMart/AgriMart/agri-backend/README.md</a:t>
            </a:r>
          </a:p>
          <a:p xmlns:a="http://schemas.openxmlformats.org/drawingml/2006/main">
            <a:r>
              <a:t>- /home/jojo/Desktop/AgriMart/AgriMart/agrimart-frontend/README.md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- /home/jojo/Projects/mobile-and-web-application-for-agricultural-market-place/ml_service/models/metadata.json</a:t>
            </a:r>
          </a:p>
          <a:p xmlns:a="http://schemas.openxmlformats.org/drawingml/2006/main">
            <a:r>
              <a:t>- /home/jojo/Projects/mobile-and-web-application-for-agricultural-market-place/ml_service/README.md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- /home/jojo/Projects/mobile-and-web-application-for-agricultural-market-place/mobile/README.md</a:t>
            </a:r>
          </a:p>
          <a:p xmlns:a="http://schemas.openxmlformats.org/drawingml/2006/main">
            <a:r>
              <a:t>- /home/jojo/Desktop/AgriMart/AgriMart/agrimart-frontend/README.md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- /home/jojo/Projects/mobile-and-web-application-for-agricultural-market-place/mobile/README.md</a:t>
            </a:r>
          </a:p>
          <a:p xmlns:a="http://schemas.openxmlformats.org/drawingml/2006/main">
            <a:r>
              <a:t>- /home/jojo/Desktop/AgriMart/AgriMart/agri-backend/README.md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- /home/jojo/Desktop/AgriMart/AgriMart/agri-backend/README.md</a:t>
            </a:r>
          </a:p>
          <a:p xmlns:a="http://schemas.openxmlformats.org/drawingml/2006/main">
            <a:r>
              <a:t>- /home/jojo/Desktop/AgriMart/AgriMart/agrimart-frontend/README.md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/home/jojo/Desktop/AgriMart/AgriMart/agri-backend/db.sql</a:t>
            </a:r>
          </a:p>
          <a:p xmlns:a="http://schemas.openxmlformats.org/drawingml/2006/main">
            <a:r>
              <a:t>- /home/jojo/Desktop/AgriMart/AgriMart/agri-backend/README.md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/home/jojo/Projects/mobile-and-web-application-for-agricultural-market-place/mobile/README.md</a:t>
            </a:r>
          </a:p>
          <a:p xmlns:a="http://schemas.openxmlformats.org/drawingml/2006/main">
            <a:r>
              <a:t>- /home/jojo/Desktop/AgriMart/AgriMart/agrimart-frontend/README.md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/home/jojo/Projects/mobile-and-web-application-for-agricultural-market-place/ml_service/models/metadata.json</a:t>
            </a:r>
          </a:p>
          <a:p xmlns:a="http://schemas.openxmlformats.org/drawingml/2006/main">
            <a:r>
              <a:t>- /home/jojo/Projects/mobile-and-web-application-for-agricultural-market-place/ml_service/README.md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- /home/jojo/Projects/mobile-and-web-application-for-agricultural-market-place/ml_service/README.md</a:t>
            </a:r>
          </a:p>
          <a:p xmlns:a="http://schemas.openxmlformats.org/drawingml/2006/main">
            <a:r>
              <a:t>- /home/jojo/Desktop/AgriMart/AgriMart/agri-backend/README.md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- /home/jojo/Desktop/AgriMart/AgriMart/agri-backend/README.md</a:t>
            </a:r>
          </a:p>
          <a:p xmlns:a="http://schemas.openxmlformats.org/drawingml/2006/main">
            <a:r>
              <a:t>- /home/jojo/Desktop/AgriMart/AgriMart/agrimart-frontend/README.md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/home/jojo/Projects/mobile-and-web-application-for-agricultural-market-place/mobile/README.md</a:t>
            </a:r>
          </a:p>
          <a:p xmlns:a="http://schemas.openxmlformats.org/drawingml/2006/main">
            <a:r>
              <a:t>- /home/jojo/Projects/mobile-and-web-application-for-agricultural-market-place/ml_service/README.md</a:t>
            </a:r>
          </a:p>
          <a:p xmlns:a="http://schemas.openxmlformats.org/drawingml/2006/main">
            <a:r>
              <a:t>- /home/jojo/Desktop/AgriMart/AgriMart/agri-backend/README.md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/home/jojo/Projects/mobile-and-web-application-for-agricultural-market-place/mobile/README.md</a:t>
            </a:r>
          </a:p>
          <a:p xmlns:a="http://schemas.openxmlformats.org/drawingml/2006/main">
            <a:r>
              <a:t>- /home/jojo/Projects/mobile-and-web-application-for-agricultural-market-place/ml_service/README.md</a:t>
            </a:r>
          </a:p>
          <a:p xmlns:a="http://schemas.openxmlformats.org/drawingml/2006/main">
            <a:r>
              <a:t>- /home/jojo/Desktop/AgriMart/AgriMart/agrimart-frontend/README.md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/home/jojo/Desktop/AgriMart/AgriMart/agri-backend/src/__tests__/</a:t>
            </a:r>
          </a:p>
          <a:p xmlns:a="http://schemas.openxmlformats.org/drawingml/2006/main">
            <a:r>
              <a:t>- /home/jojo/Projects/mobile-and-web-application-for-agricultural-market-place/mobile/__tests__/</a:t>
            </a:r>
          </a:p>
          <a:p xmlns:a="http://schemas.openxmlformats.org/drawingml/2006/main">
            <a:r>
              <a:t>- /home/jojo/Projects/mobile-and-web-application-for-agricultural-market-place/ml_service/tests/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Local test execution on 17 October 2026</a:t>
            </a:r>
          </a:p>
          <a:p xmlns:a="http://schemas.openxmlformats.org/drawingml/2006/main">
            <a:r>
              <a:t>- /home/jojo/Desktop/AgriMart/AgriMart/agri-backend/src/__tests__/</a:t>
            </a:r>
          </a:p>
          <a:p xmlns:a="http://schemas.openxmlformats.org/drawingml/2006/main">
            <a:r>
              <a:t>- /home/jojo/Projects/mobile-and-web-application-for-agricultural-market-place/mobile/__tests__/</a:t>
            </a:r>
          </a:p>
          <a:p xmlns:a="http://schemas.openxmlformats.org/drawingml/2006/main">
            <a:r>
              <a:t>- /home/jojo/Projects/mobile-and-web-application-for-agricultural-market-place/ml_service/tests/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/home/jojo/Projects/mobile-and-web-application-for-agricultural-market-place/ml_service/models/metadata.json</a:t>
            </a:r>
          </a:p>
          <a:p xmlns:a="http://schemas.openxmlformats.org/drawingml/2006/main">
            <a:r>
              <a:t>- /home/jojo/Projects/mobile-and-web-application-for-agricultural-market-place/ml_service/reports/model_screening.csv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- /home/jojo/Projects/mobile-and-web-application-for-agricultural-market-place/mobile/README.md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- /home/jojo/Projects/mobile-and-web-application-for-agricultural-market-place/ml_service/README.md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- /home/jojo/Desktop/AgriMart/AgriMart/agri-backend/README.md</a:t>
            </a:r>
          </a:p>
          <a:p xmlns:a="http://schemas.openxmlformats.org/drawingml/2006/main">
            <a:r>
              <a:t>- /home/jojo/Desktop/AgriMart/AgriMart/agrimart-frontend/README.md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- /home/jojo/Desktop/AgriMart/AgriMart/agri-backend/README.md</a:t>
            </a:r>
          </a:p>
          <a:p xmlns:a="http://schemas.openxmlformats.org/drawingml/2006/main">
            <a:r>
              <a:t>- /home/jojo/Desktop/AgriMart/AgriMart/agrimart-frontend/README.md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- /home/jojo/Projects/mobile-and-web-application-for-agricultural-market-place/ml_service/models/metadata.json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- /home/jojo/Desktop/AgriMart/AgriMart/agri-backend/README.md</a:t>
            </a:r>
          </a:p>
          <a:p xmlns:a="http://schemas.openxmlformats.org/drawingml/2006/main">
            <a:r>
              <a:t>- /home/jojo/Desktop/AgriMart/AgriMart/agrimart-frontend/README.md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- /home/jojo/Projects/mobile-and-web-application-for-agricultural-market-place/ml_service/models/metadata.json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- /home/jojo/Projects/mobile-and-web-application-for-agricultural-market-place/ml_service/README.md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48cd69057348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554c3c969e499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2c69a728f942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fbbe3e63bd4c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43b587486b480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f64f23275b450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e2fe3f19c54bb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2431b80ed6405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8a1f8c3afa46b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d6285e825d4db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dc19a7b04040d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2A4590B-631F-4718-B86B-10469022A18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4E25273-712D-41BD-9336-CAD43A42926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16492E1-EEE7-43DD-95EB-A5A80CFF39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5B7F762-CA01-4FFE-B7B6-A41BDD0549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0FB308E-B332-4A0B-9F1E-062793EA6E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60B69E-5F02-4BFA-9E82-1834E4A1A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AD72A41-0A19-4807-B256-535C0705AE7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F6C786-3119-47FE-902E-967E44D697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C76F74-40A0-4401-B7B8-3B8546D736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61062B-4D28-4030-8844-153E211FFD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B1D765-85C0-43CB-8B8D-7386164E67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EA78D99-EA13-4BFB-94C3-9D34BA8C51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5D5148F-ECD7-4A40-9DA9-C26FEB9616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441BA51-1133-4542-930C-C92365FA3C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0D03DA-3C36-459B-BC36-FBC2D3E342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7FD8C3-2CA4-4762-9B39-5A2F370D1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56E702-7CD7-4100-A976-14F0266573D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B468876-FF5D-4E56-8428-67059D44C5D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48C27E0-B2DF-4DE3-8B59-2FB071B144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22-Sep-26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07EB536-C2D0-45AE-BC21-EAC26E5D94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EFD48AA-1909-49D0-9161-B9B6A8AA3C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7485E-A9F5-4C93-935E-A6A97F6A5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5BF3E9E-3FF0-4F97-8E34-40EE222365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371F523-B5E8-4917-8172-CDF7576ADFF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3E00A75-21FA-4AB0-AAFD-E57924F27D8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9CA29E1-37D0-4E9D-80C1-FFF6FD4227F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61CCBD9-CFD5-4E7D-A83B-3D56CD36A5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22-Sep-26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3DF3CF6-679C-4AEB-93A9-8F04C0014D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CB6E871-7556-434D-B858-726F0F5FD8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296D079-201E-4D98-B7C9-2F96B0DDE5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2AD6EE0-2566-446F-A81B-636DEB9CA5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22-Sep-26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7BE85D7-C7E7-436B-B01B-B27960EA30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6284142-E5BF-4D63-9069-CF7B2EE10E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BEEA55D-B20C-47BE-BE35-0B10A0B8DE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22-Sep-26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0DA4780-CDDD-4C37-8BA8-8C2C55162E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8E4F6F5-81A9-4161-B6E1-0BA3223172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A3A9A91-935C-454E-AECF-F1C1D39D9B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B091AED-B175-4C7F-874D-37EAA7CF9C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A795350-6B62-4865-99E5-11A4EED321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B6DB9CC-791B-4CF1-9D64-F15F9393C4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22-Sep-26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44A826F-A497-45C7-8603-796122A19A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0A6CAE1-2604-422A-BA7C-68AE311733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21FA909-9206-49A6-8983-782BD35A57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E9B8CDE-3AEA-40AB-B8AA-10AFF4EA509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1FB14F3-7701-47EB-8CAC-89CC16818B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E147A8F-6CB4-4002-BE60-EDF5D974DE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22-Sep-26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2D5FD1B-DBFC-48A1-BEC7-39B530B268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1ED6DD1-FB67-4A5B-A116-8C031CE88D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CE4626-7CC6-4619-A9AB-1426CFA6D5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6815A7D-7E0B-442C-B27F-BE367FED69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81EDCA7-E801-4E15-85B8-9F2F77E6DC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7C6DD89-FD78-4560-B359-BE56C43EBD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A58406F-CAE6-4CD4-B9F2-DD19E5D9E6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D23DEC2-B0E0-45EF-8232-82DE293569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4037F16-8E94-4F77-BC04-D80C2E7FAD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721C03-1E4C-469B-8C5E-425BC2C914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2A8569-8BA5-4471-A85F-25D9F68DAF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06F1D6-419D-4A47-9199-B6AE1B98F7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98a229fe314856" /><Relationship Type="http://schemas.openxmlformats.org/officeDocument/2006/relationships/slideLayout" Target="/ppt/slideLayouts/slideLayout1.xml" Id="Re10de1d31d9b45a8" /><Relationship Type="http://schemas.openxmlformats.org/officeDocument/2006/relationships/slideLayout" Target="/ppt/slideLayouts/slideLayout2.xml" Id="R7670c2d3553343a5" /><Relationship Type="http://schemas.openxmlformats.org/officeDocument/2006/relationships/slideLayout" Target="/ppt/slideLayouts/slideLayout3.xml" Id="Rd6e5e3cc82584fe5" /><Relationship Type="http://schemas.openxmlformats.org/officeDocument/2006/relationships/slideLayout" Target="/ppt/slideLayouts/slideLayout4.xml" Id="R548d5312b14c4d73" /><Relationship Type="http://schemas.openxmlformats.org/officeDocument/2006/relationships/slideLayout" Target="/ppt/slideLayouts/slideLayout5.xml" Id="Rd891bcab0aef4619" /><Relationship Type="http://schemas.openxmlformats.org/officeDocument/2006/relationships/slideLayout" Target="/ppt/slideLayouts/slideLayout6.xml" Id="Rad28c3222fc345ed" /><Relationship Type="http://schemas.openxmlformats.org/officeDocument/2006/relationships/slideLayout" Target="/ppt/slideLayouts/slideLayout7.xml" Id="R4046f96f1f5f459d" /><Relationship Type="http://schemas.openxmlformats.org/officeDocument/2006/relationships/slideLayout" Target="/ppt/slideLayouts/slideLayout8.xml" Id="R5f2147d2c4714989" /><Relationship Type="http://schemas.openxmlformats.org/officeDocument/2006/relationships/slideLayout" Target="/ppt/slideLayouts/slideLayout9.xml" Id="Rc4f98aea7bd84fd5" /><Relationship Type="http://schemas.openxmlformats.org/officeDocument/2006/relationships/slideLayout" Target="/ppt/slideLayouts/slideLayout10.xml" Id="R5931eefce2d5413e" /><Relationship Type="http://schemas.openxmlformats.org/officeDocument/2006/relationships/slideLayout" Target="/ppt/slideLayouts/slideLayout11.xml" Id="R00181c1d89774e1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9776C29-0126-4E20-8749-C306929C87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9EAE478-66C6-440C-A108-5D91FF9A69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869392-3B49-4D97-B4DC-F49BB548672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22-Sep-26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9547782-0205-48A3-936A-AEFB461F82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C5E8BE-AF24-4C6C-ACC0-40FB29C32D1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0de1d31d9b45a8"/>
    <p:sldLayoutId xmlns:r="http://schemas.openxmlformats.org/officeDocument/2006/relationships" id="2147483650" r:id="R7670c2d3553343a5"/>
    <p:sldLayoutId xmlns:r="http://schemas.openxmlformats.org/officeDocument/2006/relationships" id="2147483651" r:id="Rd6e5e3cc82584fe5"/>
    <p:sldLayoutId xmlns:r="http://schemas.openxmlformats.org/officeDocument/2006/relationships" id="2147483652" r:id="R548d5312b14c4d73"/>
    <p:sldLayoutId xmlns:r="http://schemas.openxmlformats.org/officeDocument/2006/relationships" id="2147483653" r:id="Rd891bcab0aef4619"/>
    <p:sldLayoutId xmlns:r="http://schemas.openxmlformats.org/officeDocument/2006/relationships" id="2147483654" r:id="Rad28c3222fc345ed"/>
    <p:sldLayoutId xmlns:r="http://schemas.openxmlformats.org/officeDocument/2006/relationships" id="2147483655" r:id="R4046f96f1f5f459d"/>
    <p:sldLayoutId xmlns:r="http://schemas.openxmlformats.org/officeDocument/2006/relationships" id="2147483656" r:id="R5f2147d2c4714989"/>
    <p:sldLayoutId xmlns:r="http://schemas.openxmlformats.org/officeDocument/2006/relationships" id="2147483657" r:id="Rc4f98aea7bd84fd5"/>
    <p:sldLayoutId xmlns:r="http://schemas.openxmlformats.org/officeDocument/2006/relationships" id="2147483658" r:id="R5931eefce2d5413e"/>
    <p:sldLayoutId xmlns:r="http://schemas.openxmlformats.org/officeDocument/2006/relationships" id="2147483659" r:id="R00181c1d89774e11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a0d63737d94e21" /><Relationship Type="http://schemas.openxmlformats.org/officeDocument/2006/relationships/notesSlide" Target="/ppt/notesSlides/notesSlide1.xml" Id="R81a6497edb2149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1cd26d508694fdc" /><Relationship Type="http://schemas.openxmlformats.org/officeDocument/2006/relationships/notesSlide" Target="/ppt/notesSlides/notesSlide2.xml" Id="R6ea566fb6fb349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c8eb34d3d8640dd" /><Relationship Type="http://schemas.openxmlformats.org/officeDocument/2006/relationships/notesSlide" Target="/ppt/notesSlides/notesSlide3.xml" Id="Rf430c070fc3544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4173d17f6f4053" /><Relationship Type="http://schemas.openxmlformats.org/officeDocument/2006/relationships/notesSlide" Target="/ppt/notesSlides/notesSlide4.xml" Id="Rc6a68a5bff9e43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5b4a011fd3a4009" /><Relationship Type="http://schemas.openxmlformats.org/officeDocument/2006/relationships/notesSlide" Target="/ppt/notesSlides/notesSlide5.xml" Id="Rd738be6a795846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4d4d8fefad4b4d" /><Relationship Type="http://schemas.openxmlformats.org/officeDocument/2006/relationships/notesSlide" Target="/ppt/notesSlides/notesSlide6.xml" Id="R0ac31ed354c949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a2eddd99824993" /><Relationship Type="http://schemas.openxmlformats.org/officeDocument/2006/relationships/notesSlide" Target="/ppt/notesSlides/notesSlide7.xml" Id="R060c268a761a40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40bf5b941644c1" /><Relationship Type="http://schemas.openxmlformats.org/officeDocument/2006/relationships/notesSlide" Target="/ppt/notesSlides/notesSlide8.xml" Id="Rc8139b9d729641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9e6cd4c10714f9f" /><Relationship Type="http://schemas.openxmlformats.org/officeDocument/2006/relationships/notesSlide" Target="/ppt/notesSlides/notesSlide9.xml" Id="R831602a3917a43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952e35655d43f0" /><Relationship Type="http://schemas.openxmlformats.org/officeDocument/2006/relationships/notesSlide" Target="/ppt/notesSlides/notesSlide10.xml" Id="R868ab55364ca40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c232fc07c148c6" /><Relationship Type="http://schemas.openxmlformats.org/officeDocument/2006/relationships/notesSlide" Target="/ppt/notesSlides/notesSlide11.xml" Id="R3fdb6bd1080343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c6428ad3e7740ae" /><Relationship Type="http://schemas.openxmlformats.org/officeDocument/2006/relationships/notesSlide" Target="/ppt/notesSlides/notesSlide12.xml" Id="Rcdad50a0e4dc4b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1940f63a9ad48bc" /><Relationship Type="http://schemas.openxmlformats.org/officeDocument/2006/relationships/notesSlide" Target="/ppt/notesSlides/notesSlide13.xml" Id="R9b925715007043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11878541d540b9" /><Relationship Type="http://schemas.openxmlformats.org/officeDocument/2006/relationships/notesSlide" Target="/ppt/notesSlides/notesSlide14.xml" Id="R47085abf37ff428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5e198d57214060" /><Relationship Type="http://schemas.openxmlformats.org/officeDocument/2006/relationships/notesSlide" Target="/ppt/notesSlides/notesSlide15.xml" Id="Rb0b358257a2d401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48a66af5bd64c38" /><Relationship Type="http://schemas.openxmlformats.org/officeDocument/2006/relationships/notesSlide" Target="/ppt/notesSlides/notesSlide16.xml" Id="R2f7bef44a0384e5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9c3c295be44ca2" /><Relationship Type="http://schemas.openxmlformats.org/officeDocument/2006/relationships/notesSlide" Target="/ppt/notesSlides/notesSlide17.xml" Id="R67e16f5f336740d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fad776faf348ae" /><Relationship Type="http://schemas.openxmlformats.org/officeDocument/2006/relationships/notesSlide" Target="/ppt/notesSlides/notesSlide18.xml" Id="Re2ecd48d1cca4bc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6b61e2a435c4956" /><Relationship Type="http://schemas.openxmlformats.org/officeDocument/2006/relationships/notesSlide" Target="/ppt/notesSlides/notesSlide19.xml" Id="Rd3ca3bd02a6d47b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a2cb5335b24bf7" /><Relationship Type="http://schemas.openxmlformats.org/officeDocument/2006/relationships/notesSlide" Target="/ppt/notesSlides/notesSlide20.xml" Id="R6fa443a3d6274a6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2acd2289d04b73" /><Relationship Type="http://schemas.openxmlformats.org/officeDocument/2006/relationships/notesSlide" Target="/ppt/notesSlides/notesSlide21.xml" Id="R05493680ed0041d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f51fe412f374ba2" /><Relationship Type="http://schemas.openxmlformats.org/officeDocument/2006/relationships/notesSlide" Target="/ppt/notesSlides/notesSlide22.xml" Id="R9ae1dfab54394fe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abdbedaba0484e" /><Relationship Type="http://schemas.openxmlformats.org/officeDocument/2006/relationships/notesSlide" Target="/ppt/notesSlides/notesSlide23.xml" Id="Rd49724257d414da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3a237cdbf654097" /><Relationship Type="http://schemas.openxmlformats.org/officeDocument/2006/relationships/notesSlide" Target="/ppt/notesSlides/notesSlide24.xml" Id="R295c03401ae1450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a1029c8e234d05" /><Relationship Type="http://schemas.openxmlformats.org/officeDocument/2006/relationships/notesSlide" Target="/ppt/notesSlides/notesSlide25.xml" Id="R5236c3f2bfff41b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cfbccb74c144281" /><Relationship Type="http://schemas.openxmlformats.org/officeDocument/2006/relationships/notesSlide" Target="/ppt/notesSlides/notesSlide26.xml" Id="Rac7b82c83be5464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65ad164a9a4694" /><Relationship Type="http://schemas.openxmlformats.org/officeDocument/2006/relationships/notesSlide" Target="/ppt/notesSlides/notesSlide27.xml" Id="Rfcb0f874ed8e403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08e9ef6a5954d54" /><Relationship Type="http://schemas.openxmlformats.org/officeDocument/2006/relationships/notesSlide" Target="/ppt/notesSlides/notesSlide28.xml" Id="Rfdb844c6407e4a3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c784f5a5a44fed" /><Relationship Type="http://schemas.openxmlformats.org/officeDocument/2006/relationships/notesSlide" Target="/ppt/notesSlides/notesSlide29.xml" Id="R0ea1958cec25455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a513e69bae4524" /><Relationship Type="http://schemas.openxmlformats.org/officeDocument/2006/relationships/notesSlide" Target="/ppt/notesSlides/notesSlide30.xml" Id="Rdbbaa4dc1c9147e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9463771a7f42c6" /><Relationship Type="http://schemas.openxmlformats.org/officeDocument/2006/relationships/notesSlide" Target="/ppt/notesSlides/notesSlide31.xml" Id="R0a46286e1c704d7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cbd00b1822e4bd9" /><Relationship Type="http://schemas.openxmlformats.org/officeDocument/2006/relationships/notesSlide" Target="/ppt/notesSlides/notesSlide32.xml" Id="Ra2f928c395074cb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018808d30f4532" /><Relationship Type="http://schemas.openxmlformats.org/officeDocument/2006/relationships/image" Target="/ppt/media/image.png" Id="R402dd86d601b43db" /><Relationship Type="http://schemas.openxmlformats.org/officeDocument/2006/relationships/notesSlide" Target="/ppt/notesSlides/notesSlide33.xml" Id="Rf1abd4943c254b2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9dafb97988342f9" /><Relationship Type="http://schemas.openxmlformats.org/officeDocument/2006/relationships/notesSlide" Target="/ppt/notesSlides/notesSlide34.xml" Id="Ra615d7768e454d9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212f1bc0014589" /><Relationship Type="http://schemas.openxmlformats.org/officeDocument/2006/relationships/notesSlide" Target="/ppt/notesSlides/notesSlide35.xml" Id="R5d57d4e960bc42d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f038478ada41fa" /><Relationship Type="http://schemas.openxmlformats.org/officeDocument/2006/relationships/notesSlide" Target="/ppt/notesSlides/notesSlide36.xml" Id="Reca75ca1892f43b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e05408e5424083" /><Relationship Type="http://schemas.openxmlformats.org/officeDocument/2006/relationships/notesSlide" Target="/ppt/notesSlides/notesSlide37.xml" Id="R45d59b3789d84ba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7bf97a93354f23" /><Relationship Type="http://schemas.openxmlformats.org/officeDocument/2006/relationships/notesSlide" Target="/ppt/notesSlides/notesSlide38.xml" Id="R570ae35fc40c4cd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4d0c348d8b04b99" /><Relationship Type="http://schemas.openxmlformats.org/officeDocument/2006/relationships/notesSlide" Target="/ppt/notesSlides/notesSlide39.xml" Id="R2fe50584ace14bf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11c3c467334ed0" /><Relationship Type="http://schemas.openxmlformats.org/officeDocument/2006/relationships/notesSlide" Target="/ppt/notesSlides/notesSlide40.xml" Id="R2b1f8072c7a54d1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8e4e5fa81144b4" /><Relationship Type="http://schemas.openxmlformats.org/officeDocument/2006/relationships/notesSlide" Target="/ppt/notesSlides/notesSlide41.xml" Id="R17d015860dba45a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f6ec5ea34d432d" /><Relationship Type="http://schemas.openxmlformats.org/officeDocument/2006/relationships/notesSlide" Target="/ppt/notesSlides/notesSlide42.xml" Id="R1b6f1f7dc2ed432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55b6cc0ce3481b" /><Relationship Type="http://schemas.openxmlformats.org/officeDocument/2006/relationships/notesSlide" Target="/ppt/notesSlides/notesSlide43.xml" Id="R186c1991424e42b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a0212da2e6411c" /><Relationship Type="http://schemas.openxmlformats.org/officeDocument/2006/relationships/notesSlide" Target="/ppt/notesSlides/notesSlide44.xml" Id="R3bcf0fc7c01d4a7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8f52efe8944fee" /><Relationship Type="http://schemas.openxmlformats.org/officeDocument/2006/relationships/notesSlide" Target="/ppt/notesSlides/notesSlide45.xml" Id="R8b6beb9a62b6450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24938ab9824108" /><Relationship Type="http://schemas.openxmlformats.org/officeDocument/2006/relationships/notesSlide" Target="/ppt/notesSlides/notesSlide46.xml" Id="R9934173a92d44cd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7893a4440d4903" /><Relationship Type="http://schemas.openxmlformats.org/officeDocument/2006/relationships/notesSlide" Target="/ppt/notesSlides/notesSlide47.xml" Id="R35cf53c09687468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733532a96494333" /><Relationship Type="http://schemas.openxmlformats.org/officeDocument/2006/relationships/notesSlide" Target="/ppt/notesSlides/notesSlide48.xml" Id="R84839a4ed1ba47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2D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E43EEB7-11BA-479D-97F3-A5D7F837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6424930" cy="10744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>
            <a:defPPr algn="ctr">
              <a:defRPr sz="32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buNone/>
              <a:defRPr sz="32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MOBILE AND WEB APPLICATION FOR</a:t>
            </a:r>
          </a:p>
          <a:p xmlns:a="http://schemas.openxmlformats.org/drawingml/2006/main">
            <a:pPr algn="ctr">
              <a:buNone/>
              <a:defRPr sz="32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AGRICULTURAL MARKETPLACE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68A4F13-0A36-49C5-8687-338AFE4D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43250"/>
            <a:ext cx="3792855" cy="1851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>
            <a:defPPr algn="ctr">
              <a:defRPr sz="16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Presentation</a:t>
            </a:r>
            <a:endParaRPr/>
          </a:p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MWALE Jonathan • 2021512967</a:t>
            </a:r>
            <a:endParaRPr/>
          </a:p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Chengetai Mtengo</a:t>
            </a:r>
          </a:p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Supervisor: Prof. J. Phiri</a:t>
            </a:r>
          </a:p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University of Zambia</a:t>
            </a:r>
          </a:p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Department of Computing and Informatics</a:t>
            </a:r>
          </a:p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2026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837E5CC-926B-4B1A-A2E1-5FD0811B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95DA4A0-FA94-4F60-8D5F-256A96F6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0467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1</a:t>
            </a:r>
          </a:p>
        </p:txBody>
      </p:sp>
    </p:spTree>
    <p:extLst>
      <p:ext uri="{BB962C8B-B14F-4D97-AF65-F5344CB8AC3E}">
        <p14:creationId xmlns:p14="http://schemas.microsoft.com/office/powerpoint/2010/main" val="19901027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109A31-7FE4-41B1-ABAA-171702EB0CCB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6191250" y="3309938"/>
            <a:ext cx="1238250" cy="1714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284D2-A1AD-4E25-9104-205CC1C7F5EC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191250" y="2547938"/>
            <a:ext cx="123825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9E753-C846-4CE3-9A30-6AFA2949096C}"/>
              </a:ext>
            </a:extLst>
          </p:cNvPr>
          <p:cNvCxnSpPr>
            <a:stCxn xmlns:a="http://schemas.openxmlformats.org/drawingml/2006/main" id="11" idx="6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047875" y="4929188"/>
            <a:ext cx="8572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5A879-E4C8-4C88-89AF-57230AC37A4E}"/>
              </a:ext>
            </a:extLst>
          </p:cNvPr>
          <p:cNvCxnSpPr>
            <a:stCxn xmlns:a="http://schemas.openxmlformats.org/drawingml/2006/main" id="7" idx="6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047875" y="2357438"/>
            <a:ext cx="85725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04C9F68-C79D-4135-9C10-6CB29E3E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86283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Team Roles and Responsibilities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7EA63F3-49B4-4261-8E6D-F25BE3B3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6CDF7DC-B8C4-4A45-B32C-07C4B10D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0467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33E7B-8392-4D68-B4D4-3AD1E8EA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190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C06CE-B497-4A9B-B823-70809FC1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1857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MWALE Jonathan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2021512967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6FF33-5432-4305-B536-DB973FBB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66875"/>
            <a:ext cx="3286125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Mobile application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Machine-learning model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FastAPI forecast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2E1ED-B728-458B-AB55-84869DDA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1190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9DF3A-C1A9-4B1A-AE1F-2E8576E0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Chengetai Mtengo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DE7F6-69A9-4AE0-B112-2206B608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238625"/>
            <a:ext cx="3286125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Express backend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Next.js web application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Supabase integration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403E91-91BE-403C-AE68-FDCB1BE3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Shared integration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API contracts • testing • deployment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1BD1ED-9104-40A2-B50E-4DEB9EBE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1012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Supervisor: Prof. J. Phiri</a:t>
            </a:r>
          </a:p>
        </p:txBody>
      </p:sp>
    </p:spTree>
    <p:extLst>
      <p:ext uri="{BB962C8B-B14F-4D97-AF65-F5344CB8AC3E}">
        <p14:creationId xmlns:p14="http://schemas.microsoft.com/office/powerpoint/2010/main" val="15093456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5340ED4-7149-46A5-9583-EF7233DB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3556318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Presentation Overview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280CA71-7D73-4E59-957A-6B385961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9DDD013-1DCC-4630-A869-D5F96D64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0467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06AFC-F0FF-42FD-9B2A-AEBD61DA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E25CF-D8AC-44E1-8904-CBFA2170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14575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F139A-CA9D-4942-9589-F6EA9882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2405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C6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7BB6F-92AA-4998-8F5C-0AD2272C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66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27E47-0DEC-422F-8727-C50E498D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314575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Related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86F47-17FF-4AAD-9FFD-1AFD3641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2405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C6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EB618-F36E-4CD0-B517-CEC6FC5F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66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9D6DD-3F68-4821-B87B-5DDF7E59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14575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Methodology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60820-98F2-4437-845A-DAA9D84E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2405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C6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5646D-B63B-4287-BA37-3D931BC9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66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8501C-654B-4C2F-B43C-98D6DC86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14575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System design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DD316E-BB7F-4DB7-A0AD-DCA7F9F4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C6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D4887-4A75-4807-9E8B-56907CF0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66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E507C5-5EBC-4A05-98E7-82C02D5E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14575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Implementation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4FEC73-CD7C-44F1-9F74-EBA500F9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56A9AB-522F-4E19-ACB5-7119C639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410075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Testing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0084C9-2C7F-4248-98E5-26138A00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1955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C6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342693-1153-4F8E-A676-2955474B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62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6E3BCB-DE32-4651-858D-C692FE50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10075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Discussion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A9B169-8F57-49EE-B632-81238F01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1955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C6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17C80A-8C8E-4CC5-8694-5BCFE966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62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DF2AC1-055F-4411-A4F6-E941A18B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410075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Contributions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32D5EB-8FF5-444E-AC27-A73BFFE1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1955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C6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915534-46B5-466A-A23A-A5A4F8AD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62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C1ADD2-EE27-4F2A-8996-59BD3A52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10075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B5CB3D-4792-4B1C-8349-65B0F8DB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1955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C6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BF534C-3714-4124-8CA2-49D3FD45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62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C2717E-9C33-4179-934B-32970CA9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410075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0567396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36A45-5883-43B9-9273-E919AF8261A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953250" y="3190875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C2619-03C4-4CB9-B5F3-456BCC1D1A9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05125" y="319087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61E5873-C870-48F9-8E88-60630D57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379603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Background and Context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64D45BD-BC9D-474B-8E4C-5B6347DD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14E434F-69B9-4516-8652-540E01B3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0467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9CBB6-1F7C-4F1C-8AF0-9FE70383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2000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Smallholder</a:t>
            </a:r>
          </a:p>
          <a:p xmlns:a="http://schemas.openxmlformats.org/drawingml/2006/main">
            <a:pPr algn="ctr">
              <a:defRPr sz="1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farmer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58777-7F3F-4591-B086-9ED44987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95500"/>
            <a:ext cx="2952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6E8E8"/>
          </a:solidFill>
          <a:ln xmlns:a="http://schemas.openxmlformats.org/drawingml/2006/main" w="14288">
            <a:solidFill>
              <a:srgbClr val="9A4F4F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Fragmented market</a:t>
            </a:r>
          </a:p>
          <a:p xmlns:a="http://schemas.openxmlformats.org/drawingml/2006/main">
            <a: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Intermediaries</a:t>
            </a:r>
          </a:p>
          <a:p xmlns:a="http://schemas.openxmlformats.org/drawingml/2006/main">
            <a: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Unclear prices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50AF4-D657-4E90-9EED-0812406B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71750"/>
            <a:ext cx="22383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Consumer or</a:t>
            </a:r>
          </a:p>
          <a:p xmlns:a="http://schemas.openxmlformats.org/drawingml/2006/main">
            <a:pPr algn="ctr">
              <a:defRPr sz="1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large buyer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F7144-93AC-4303-80D3-FD3A91EF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6250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20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Zambia needs direct market access plus reliable price information</a:t>
            </a:r>
          </a:p>
        </p:txBody>
      </p:sp>
    </p:spTree>
    <p:extLst>
      <p:ext uri="{BB962C8B-B14F-4D97-AF65-F5344CB8AC3E}">
        <p14:creationId xmlns:p14="http://schemas.microsoft.com/office/powerpoint/2010/main" val="13676985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357EF96-17E6-4CAA-A0A3-F08BFF8F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3048317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Problem Statement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19E5C09-4F3C-4DB1-91A1-B27A00AF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342A079-1865-4243-847E-499E9BE6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0467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EEB525-9823-4E31-8582-0AEF5F03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257800" cy="4333875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B87036-36F5-4C4E-A33A-44BEE307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483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875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9A4F4F"/>
                </a:solidFill>
                <a:latin typeface="Calibri"/>
                <a:ea typeface="Calibri"/>
                <a:cs typeface="Calibri"/>
              </a:rPr>
              <a:t>Market access 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9B70F-AE2E-4B84-8FC8-0626DFA0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F4F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45478-B4A1-4677-A744-71ACCDF6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383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Dependence on intermediaries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F2896-3863-4750-818C-EFB4FA50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F4F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2C988F-613B-487F-B67F-9FC28942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Lower farmer margins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87D25-3FD9-4CF5-956E-1873C83F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F4F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5C57D-4FEA-45EA-BD63-B75EE38A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861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Hard-to-find suppliers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ADBE29-01EE-4F8F-87E7-FC65FFC5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F4F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510D20-D422-472D-9FC7-74FB85DC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00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Slow price comparison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7F533D-F0D8-48AA-BAA7-5D8AED88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28750"/>
            <a:ext cx="5257800" cy="4333875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98353A-2ACC-4BE6-B0FC-BD32F28D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83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DD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875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B68432"/>
                </a:solidFill>
                <a:latin typeface="Calibri"/>
                <a:ea typeface="Calibri"/>
                <a:cs typeface="Calibri"/>
              </a:rPr>
              <a:t>Information gap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938D33-0512-46AC-8F69-6156BDD6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908F09-7C32-40F0-AA27-3A5DF150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383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Uncertain selling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AD57C3-84C6-41D5-9B51-82661F15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28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2D4B1B-B247-4569-B363-44765349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622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Volatile commodity prices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4B7253-2A25-4F51-A038-4ACAB659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52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4366AE-C864-4EFB-90D1-27A56977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861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Limited future insight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C23179-4C6E-45E9-9E71-C4DE66DF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76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AC0F79-B76A-441E-BF05-FCE98114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100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Separate tools for each need</a:t>
            </a:r>
          </a:p>
        </p:txBody>
      </p:sp>
    </p:spTree>
    <p:extLst>
      <p:ext uri="{BB962C8B-B14F-4D97-AF65-F5344CB8AC3E}">
        <p14:creationId xmlns:p14="http://schemas.microsoft.com/office/powerpoint/2010/main" val="11617710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FB297-5FB9-4149-A96A-484B2C1A0CDC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 flipV="1">
            <a:off x="6896100" y="3524250"/>
            <a:ext cx="167640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5F253-6A95-496B-ADA9-16FCABACABA2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>
            <a:off x="6896100" y="1952625"/>
            <a:ext cx="1676400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B27B0-6DF3-4F85-8E22-DE9226914B7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3048000" y="3524250"/>
            <a:ext cx="184785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D573D-9BF4-4608-B145-653026731CA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3048000" y="1952625"/>
            <a:ext cx="1847850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B1BC410-C495-46F7-971A-A892BA88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90055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Project Aim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26132DC-4519-4E81-805E-B7DF6EFA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448495-0376-4C3D-9E8C-6AD0084B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0467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10B8A-9C86-4326-965D-C3DBEAC1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24125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AgriMart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8FFBB-8D14-4C47-80C7-497FA812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190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Nearby suppliers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33A37-AF99-421A-B76E-E6028830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2190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Current listings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3F6CD-0D1F-4B64-9535-6D1E823C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76375"/>
            <a:ext cx="2190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EDD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Price forecasts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A6884-8F90-4C1A-B43C-A8E886F8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81500"/>
            <a:ext cx="2190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Buyer–farmer contact</a:t>
            </a:r>
          </a:p>
        </p:txBody>
      </p:sp>
    </p:spTree>
    <p:extLst>
      <p:ext uri="{BB962C8B-B14F-4D97-AF65-F5344CB8AC3E}">
        <p14:creationId xmlns:p14="http://schemas.microsoft.com/office/powerpoint/2010/main" val="388918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E864E9A-2A44-4CFD-ABD7-22AB812B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851467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Project Objectives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E64939E-5BC0-4CE6-BCA1-F90C3325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4753F77-FB95-4DD4-BBF2-21235843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0467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05A31-7803-45EB-A255-A333D749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ECA9F-A9E9-4E8F-A17D-F29ABB3B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240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21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Cross-platform marketplace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390FC-B62E-4DDC-9C37-C538BC4D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907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Locate suppliers • browse products • compare current prices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5252B-590F-4636-967C-6DAC6340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A196B-06C9-4283-BA22-3C32E1F6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3375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21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Machine-learning price forecasts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1B10F-098F-4F99-85D5-6D7905B4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005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One-month province × commodity predictions with uncertainty bounds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3A307E-F569-4827-BB90-2BB2169E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95875"/>
            <a:ext cx="7810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Implementation outcome: mobile + web + Express API + FastAPI</a:t>
            </a:r>
          </a:p>
        </p:txBody>
      </p:sp>
    </p:spTree>
    <p:extLst>
      <p:ext uri="{BB962C8B-B14F-4D97-AF65-F5344CB8AC3E}">
        <p14:creationId xmlns:p14="http://schemas.microsoft.com/office/powerpoint/2010/main" val="4123388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9727933-7DBA-4E96-AA5B-A91A9788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3143567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Scope of the Project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C655FB7-9AF9-4B77-B29D-6C18F69B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26B6C2C-A031-46AC-8915-88A5B521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0467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B1CBA-EA27-4FDC-86BC-52F1BD50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257800" cy="4333875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DF5B6-1B8F-4E3C-BF80-5126B235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483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875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In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2FC18-2094-489D-A661-51C31D66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D6493-496A-43EB-8845-3F31FD04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383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Buyer and farmer accounts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194A1-D8CA-42AA-A304-86C12AA9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C6460-A90A-4DD3-B1CE-659E4151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Product listing and 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4C171-3B05-4649-A5E1-78D4D515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F8ABE-3060-4317-8A03-758A4B4B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861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Maps and nearby suppliers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18522E-AA41-4381-9558-B03DC153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33E4C-BCCF-42C5-9F56-B62929DA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00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Price forecasts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101CA0-19C7-47C1-B947-1E33899C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28750"/>
            <a:ext cx="5257800" cy="4333875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0671E9-496F-49EE-ACBB-13D2B1E9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83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875" b="1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Outside this release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00432-0570-4A83-AA4E-A6D880D9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876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ADABFA-647E-4B0B-ABFE-D7073DFD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383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Physical delivery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BEC062-5E80-4D76-A396-1C6C5D46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28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876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585DD7-4BA6-4FA4-9004-F931A1B1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622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Integrated payments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63A6C0-A5B8-4D08-A7CE-107E878B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52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876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918E62-32D4-4D79-960C-7F167954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861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IoT farm devices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5BCDD7-4A27-4042-8C1E-8B813105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76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876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A9FE8D-31CB-44C8-B5E9-6D44E578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100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Local-language interface</a:t>
            </a:r>
          </a:p>
        </p:txBody>
      </p:sp>
    </p:spTree>
    <p:extLst>
      <p:ext uri="{BB962C8B-B14F-4D97-AF65-F5344CB8AC3E}">
        <p14:creationId xmlns:p14="http://schemas.microsoft.com/office/powerpoint/2010/main" val="19684960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92D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05C964C-9BA2-40BF-8169-35684545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388493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buNone/>
              <a:defRPr sz="4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Literature Review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99F844B-5C53-481B-BE59-A25A4EB1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9B34F81-9107-43BC-B745-465A11D3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0467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140B1-823E-45C3-812B-5016F1E7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10000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D7E0EC"/>
                </a:solidFill>
                <a:latin typeface="Calibri"/>
                <a:ea typeface="Calibri"/>
                <a:cs typeface="Calibri"/>
              </a:rPr>
              <a:t>Evidence from e-agriculture, adoption research, and price-forecasting studies</a:t>
            </a:r>
          </a:p>
        </p:txBody>
      </p:sp>
    </p:spTree>
    <p:extLst>
      <p:ext uri="{BB962C8B-B14F-4D97-AF65-F5344CB8AC3E}">
        <p14:creationId xmlns:p14="http://schemas.microsoft.com/office/powerpoint/2010/main" val="2819909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6E589-46BA-4770-8A1A-C6D0BD761D01}"/>
              </a:ext>
            </a:extLst>
          </p:cNvPr>
          <p:cNvCxnSpPr>
            <a:stCxn xmlns:a="http://schemas.openxmlformats.org/drawingml/2006/main" id="13" idx="1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 flipV="1">
            <a:off x="6762750" y="3476625"/>
            <a:ext cx="180975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EE7CD-872B-4975-801F-AC52CA8D2330}"/>
              </a:ext>
            </a:extLst>
          </p:cNvPr>
          <p:cNvCxnSpPr>
            <a:stCxn xmlns:a="http://schemas.openxmlformats.org/drawingml/2006/main" id="11" idx="1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>
            <a:off x="6762750" y="1905000"/>
            <a:ext cx="1809750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640A8-554C-4C16-9DAE-94E15A5E2E5D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3286125" y="3476625"/>
            <a:ext cx="1666875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5D7150-27A2-49BA-A5A8-82A1719672A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3286125" y="1905000"/>
            <a:ext cx="1666875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E73A070-4E58-41B1-A517-0CF790B5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3893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Key Concepts and Theories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D7B5E86-2AEC-467F-B6D9-E629ED5C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3A713BD-BE84-4698-B4F7-EFBB9E01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984E2-9A89-480F-8913-4BAA45F3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Digital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agriculture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3B28F-82A4-4D31-BCDA-F4246258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28750"/>
            <a:ext cx="2286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E-agriculture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29CDF-7EB7-41F3-990A-4C451601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29125"/>
            <a:ext cx="2286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Direct market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58B0F-1A69-45DF-ADB6-7669B43C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286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Geospatial discovery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ECE30-3DF3-4734-A1CD-77FB3F80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29125"/>
            <a:ext cx="2286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EDD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Price forecasting</a:t>
            </a:r>
          </a:p>
        </p:txBody>
      </p:sp>
    </p:spTree>
    <p:extLst>
      <p:ext uri="{BB962C8B-B14F-4D97-AF65-F5344CB8AC3E}">
        <p14:creationId xmlns:p14="http://schemas.microsoft.com/office/powerpoint/2010/main" val="14934109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3FE5110-54FB-4C52-8855-884772C1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90410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Existing Systems / Related Work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68EF38D-17CD-48D8-B74F-901C48FD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E8EE08C-5038-4BE3-8291-56978987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CC325-CC4A-444E-9E10-E7ECC7A6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238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Prajanti et 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1FD0B-B6CF-4097-A7A0-7FDA6DCA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2381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Marketplace + recommendations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B314A-4E5A-4CA0-AD45-03294D59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E8E8"/>
          </a:solidFill>
          <a:ln xmlns:a="http://schemas.openxmlformats.org/drawingml/2006/main" w="14288">
            <a:solidFill>
              <a:srgbClr val="9A4F4F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No forecasting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DC18E-1DE1-4AED-B28A-F61D8DEF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20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strength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56C815-8E6D-4F08-A5FF-FC576601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20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4F4F"/>
                </a:solidFill>
                <a:latin typeface="Calibri"/>
                <a:ea typeface="Calibri"/>
                <a:cs typeface="Calibri"/>
              </a:rPr>
              <a:t>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1D272-BBDB-4FF7-8614-A28F251D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76375"/>
            <a:ext cx="238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Devika et 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5479C-FCF0-4D8B-A664-4A1B5214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381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Direct farmer trade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B14D6-DBEB-459E-ABAE-38CEC5DF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14750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E8E8"/>
          </a:solidFill>
          <a:ln xmlns:a="http://schemas.openxmlformats.org/drawingml/2006/main" w="14288">
            <a:solidFill>
              <a:srgbClr val="9A4F4F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No web or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1DA24-0CFB-48EE-85FE-C3B0045D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33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20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strength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788033-B70D-4C00-983C-D16CB9F8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958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20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4F4F"/>
                </a:solidFill>
                <a:latin typeface="Calibri"/>
                <a:ea typeface="Calibri"/>
                <a:cs typeface="Calibri"/>
              </a:rPr>
              <a:t>gap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382D15-6FC4-4269-AC7E-430EE450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76375"/>
            <a:ext cx="238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Bondla et 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F9E21-8B13-4F11-BF76-5FF51EA3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2381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Demand + geospatial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0D7405-48EA-421C-8F57-B3A40DDA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E8E8"/>
          </a:solidFill>
          <a:ln xmlns:a="http://schemas.openxmlformats.org/drawingml/2006/main" w="14288">
            <a:solidFill>
              <a:srgbClr val="9A4F4F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Urban focus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E22A41-FF33-42E1-A517-1CE8430E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33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20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strength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BDC2B1-0ACA-4EB3-9FF2-52C53696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958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20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4F4F"/>
                </a:solidFill>
                <a:latin typeface="Calibri"/>
                <a:ea typeface="Calibri"/>
                <a:cs typeface="Calibri"/>
              </a:rPr>
              <a:t>gap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572EA6-DAD5-4838-86FF-4294A174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476375"/>
            <a:ext cx="238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Manogna et 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60A1F2-EDF1-4BA8-962C-F7355C25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143125"/>
            <a:ext cx="2381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Deep price models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C24DEA-1352-4803-AA99-84330E57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714750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E8E8"/>
          </a:solidFill>
          <a:ln xmlns:a="http://schemas.openxmlformats.org/drawingml/2006/main" w="14288">
            <a:solidFill>
              <a:srgbClr val="9A4F4F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No marketplace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46F40F-90D4-4697-9236-ED24F991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333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20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strength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B8CADD-044C-42C3-BD53-4687A598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6958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20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4F4F"/>
                </a:solidFill>
                <a:latin typeface="Calibri"/>
                <a:ea typeface="Calibri"/>
                <a:cs typeface="Calibri"/>
              </a:rPr>
              <a:t>gap</a:t>
            </a:r>
          </a:p>
        </p:txBody>
      </p:sp>
    </p:spTree>
    <p:extLst>
      <p:ext uri="{BB962C8B-B14F-4D97-AF65-F5344CB8AC3E}">
        <p14:creationId xmlns:p14="http://schemas.microsoft.com/office/powerpoint/2010/main" val="9108328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45D94E7-E37A-4487-B174-BB5E53C3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4210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Research / Knowledge Gap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6695AFB-20E3-4430-82FD-6FB723E0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29A71D6-874B-48CE-9CBF-3B4BB565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3930D-242D-41CB-AB81-D80F50DC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2857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2">
              <a:alpha val="80000"/>
            </a:srgbClr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8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Marketplace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6A22D-F67D-4396-ADE6-4EC14E35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0E5">
              <a:alpha val="80000"/>
            </a:srgbClr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8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Geolocation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D0641-5ED8-453E-ABAA-C4518575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67125"/>
            <a:ext cx="2857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8CF">
              <a:alpha val="80000"/>
            </a:srgbClr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8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Forecasting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943DA-FB81-439B-A590-40379DB1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38500"/>
            <a:ext cx="1809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AgriMart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Zambian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A17B5-8E0A-4201-A17F-183A9077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76500"/>
            <a:ext cx="3381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Existing work usually addresses one or two capabilities, not the integrated experience</a:t>
            </a:r>
          </a:p>
        </p:txBody>
      </p:sp>
    </p:spTree>
    <p:extLst>
      <p:ext uri="{BB962C8B-B14F-4D97-AF65-F5344CB8AC3E}">
        <p14:creationId xmlns:p14="http://schemas.microsoft.com/office/powerpoint/2010/main" val="14161647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92D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8E65506-5037-4AB6-AD5A-8035C143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3029268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buNone/>
              <a:defRPr sz="4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Methodology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CB8ABEE-B764-42DF-A5C4-438F5D90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B9AB677-EBA9-41DF-A279-B451B36F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30277-7181-4182-A0DB-075B4824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10000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D7E0EC"/>
                </a:solidFill>
                <a:latin typeface="Calibri"/>
                <a:ea typeface="Calibri"/>
                <a:cs typeface="Calibri"/>
              </a:rPr>
              <a:t>Agile delivery for the platform, CRISP-DM for the forecasting model</a:t>
            </a:r>
          </a:p>
        </p:txBody>
      </p:sp>
    </p:spTree>
    <p:extLst>
      <p:ext uri="{BB962C8B-B14F-4D97-AF65-F5344CB8AC3E}">
        <p14:creationId xmlns:p14="http://schemas.microsoft.com/office/powerpoint/2010/main" val="10223200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B6C53F-8BE1-4309-B113-95565F92E42A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886950" y="2786063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C66556-5011-4C2C-BEED-8AD1575C1932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772525" y="2786063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AFE23-C3D9-4A77-AF1A-B82F7A0B3BAE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658100" y="2786063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7078C-388A-40A9-9F0C-F83CAB130C2E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076700" y="2786063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90E89-4DDF-47E6-A014-D7800C89AD1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62275" y="2786063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A3C07-C013-4D8D-A9AD-81F89A9149D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847850" y="2786063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FB410A3-46FD-46A4-A7B9-0D51B74A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32955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Research / Development Approach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9804AF2-914D-404C-A8F6-0E97714A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CA02420-75C3-435D-BC85-7D6FC146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39583-2A8F-4AC7-88C4-87DA891A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428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Agile Scrum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734EB-41A8-40F5-998B-C6D6BA08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94297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Backlog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45F14-0F52-41B6-A892-CEA7E3D5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333625"/>
            <a:ext cx="94297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2-week sprint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72E27-319C-436E-96B4-70484872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333625"/>
            <a:ext cx="94297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5B6A4-9E2C-4AC8-99BB-6E3162C3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33625"/>
            <a:ext cx="94297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Refine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5E5009-7C85-4A01-96B3-296D77D7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428750"/>
            <a:ext cx="428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CRISP-DM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9E59B5-32E5-487A-BEF0-7DF6F059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33625"/>
            <a:ext cx="94297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Understand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3AAB7B-8002-4502-9CD2-C8E055FD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33625"/>
            <a:ext cx="94297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Prepare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55B997-A445-45E5-AEFA-A069B979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333625"/>
            <a:ext cx="94297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EF9BE-B6F0-45CD-96FC-F401D09A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33625"/>
            <a:ext cx="94297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Evaluate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7E9DF5-D85B-48DB-B7DB-7414E242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86250"/>
            <a:ext cx="666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Integration milestone</a:t>
            </a:r>
          </a:p>
          <a:p xmlns:a="http://schemas.openxmlformats.org/drawingml/2006/main">
            <a: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Mobile and web consume stable Express and FastAPI contracts</a:t>
            </a:r>
          </a:p>
        </p:txBody>
      </p:sp>
    </p:spTree>
    <p:extLst>
      <p:ext uri="{BB962C8B-B14F-4D97-AF65-F5344CB8AC3E}">
        <p14:creationId xmlns:p14="http://schemas.microsoft.com/office/powerpoint/2010/main" val="5620883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FA455-B5B6-449E-949B-0164AEC7A83D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80575" y="32385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14CB3B-F215-40AA-A714-7ED0332FE01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835900" y="32385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B808A-2413-4D60-8AA8-6AE10EC682E2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991225" y="32385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90A3F3-A433-4EC9-A200-2EF1AEC8D3F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146550" y="32385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464EC-C8A8-4E70-8C53-35C6B312044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01875" y="32385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300B15F-D503-4C60-AD7F-2A54C71A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75780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Project Workflow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059AD32-F7EE-4E79-9A7B-66D290E1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A4F48FD-A49A-4592-A971-C66F8075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6C65E-3D04-4503-8488-CEBBD600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635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Requirements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D26DC-F2A1-4F48-AE48-78D4DD81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425" y="2667000"/>
            <a:ext cx="1635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UX +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7B243-917B-4F2A-BEFE-C763EA6B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667000"/>
            <a:ext cx="1635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Marketplace 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D7BE3-E814-4AE8-8523-6DB45219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667000"/>
            <a:ext cx="1635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ML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D9AF2-3106-428A-8533-6A147C36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667000"/>
            <a:ext cx="1635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API integration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3595F-1AEB-4EDE-A1E1-7644B0BE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125" y="2667000"/>
            <a:ext cx="1635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Verification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F20801-2408-480F-B81F-B1C9F3BC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76750"/>
            <a:ext cx="647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Feedback from each verification cycle returns to the backlog</a:t>
            </a:r>
          </a:p>
        </p:txBody>
      </p:sp>
    </p:spTree>
    <p:extLst>
      <p:ext uri="{BB962C8B-B14F-4D97-AF65-F5344CB8AC3E}">
        <p14:creationId xmlns:p14="http://schemas.microsoft.com/office/powerpoint/2010/main" val="15021996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6EC4C32-9E63-40C2-AC64-05A7C29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355790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Tools and Technologies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B45F796-6B85-409C-B66F-09CE73B8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61BFF5-E21E-4824-91BC-F1120294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BA01A-2C34-4FCB-B090-0BD98B85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Interfaces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24B3A-DCC5-4873-9C2E-5AC95BD4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381125"/>
            <a:ext cx="7810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Expo • React Native • Next.js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48440-AE5D-45DF-8D9F-7C7B7B02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Marketplace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7ECA9-000A-4597-AFBC-93531DBD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57425"/>
            <a:ext cx="7810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Node.js • Express • JWT • Joi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6D15E-EA9E-455D-A06A-093B96AB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Forecast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77996-82EC-4A43-9D92-0F32D5A8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33725"/>
            <a:ext cx="7810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6EDD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Python • FastAPI • XGBoost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D67E94-4985-4788-A6A4-79C8456B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E6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68B6E-8546-45A5-B26F-8892133D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10025"/>
            <a:ext cx="7810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253E61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Supabase PostgreSQL • WFP panel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3F1781-5768-43A0-B30C-6F1920BD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86325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7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Delivery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17375-C51F-4DC5-8263-86FA0F1B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886325"/>
            <a:ext cx="7810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5D687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GitHub • Docker • Render / Cloud Run</a:t>
            </a:r>
          </a:p>
        </p:txBody>
      </p:sp>
    </p:spTree>
    <p:extLst>
      <p:ext uri="{BB962C8B-B14F-4D97-AF65-F5344CB8AC3E}">
        <p14:creationId xmlns:p14="http://schemas.microsoft.com/office/powerpoint/2010/main" val="11331795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A72BC-5299-4A80-8F28-86BFA4ED918A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29500" y="3762375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A8E58-1C39-4790-B6EC-ECEE19A9FA6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86125" y="3762375"/>
            <a:ext cx="1476375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EAF73-FACD-4BB6-910A-BC620CECEA6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86125" y="2667000"/>
            <a:ext cx="1476375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5D375C6-859E-4A96-9AB8-185C28BC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80568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Data Collection / Requirements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320B9B8-C173-46D2-A783-5F24942E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231C345-B70D-4E09-BD2A-E45A3597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A36E3-64AD-40AA-A032-5226B056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2476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Requirements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proposal + user flows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CFCEB-0790-44AA-BCC9-424C530D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48125"/>
            <a:ext cx="2476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6EDD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Historical prices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WFP Zambia panel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433ED-03E5-4B32-8654-DD9EDF3E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2667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Prepared dataset</a:t>
            </a:r>
          </a:p>
          <a:p xmlns:a="http://schemas.openxmlformats.org/drawingml/2006/main">
            <a: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12,352 rows</a:t>
            </a:r>
          </a:p>
          <a:p xmlns:a="http://schemas.openxmlformats.org/drawingml/2006/main">
            <a: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223 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8AEF4-01B9-46D1-AA4D-1130DB27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52750"/>
            <a:ext cx="2381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Outputs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features + model artifacts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API catalogue</a:t>
            </a:r>
          </a:p>
        </p:txBody>
      </p:sp>
    </p:spTree>
    <p:extLst>
      <p:ext uri="{BB962C8B-B14F-4D97-AF65-F5344CB8AC3E}">
        <p14:creationId xmlns:p14="http://schemas.microsoft.com/office/powerpoint/2010/main" val="3839914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92D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170F78F-5E96-4633-BCEF-90DD47B8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5975667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buNone/>
              <a:defRPr sz="4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System Analysis and Design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53E1D38-6788-4CFD-8A22-8F076B3B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12E8DAA-1967-4448-A359-048B6199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62E84-BC94-4F30-BC66-22AB62BE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10000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D7E0EC"/>
                </a:solidFill>
                <a:latin typeface="Calibri"/>
                <a:ea typeface="Calibri"/>
                <a:cs typeface="Calibri"/>
              </a:rPr>
              <a:t>Actors, requirements, architecture, data relationships, interfaces, and model design</a:t>
            </a:r>
          </a:p>
        </p:txBody>
      </p:sp>
    </p:spTree>
    <p:extLst>
      <p:ext uri="{BB962C8B-B14F-4D97-AF65-F5344CB8AC3E}">
        <p14:creationId xmlns:p14="http://schemas.microsoft.com/office/powerpoint/2010/main" val="12393964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4ECCD1-AB4B-476D-BA29-99B78B590F60}"/>
              </a:ext>
            </a:extLst>
          </p:cNvPr>
          <p:cNvCxnSpPr>
            <a:stCxn xmlns:a="http://schemas.openxmlformats.org/drawingml/2006/main" id="13" idx="1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 flipV="1">
            <a:off x="6858000" y="3524250"/>
            <a:ext cx="171450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6843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8E6A20-EDD2-4F5A-B21D-DE280FD44C65}"/>
              </a:ext>
            </a:extLst>
          </p:cNvPr>
          <p:cNvCxnSpPr>
            <a:stCxn xmlns:a="http://schemas.openxmlformats.org/drawingml/2006/main" id="11" idx="1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>
            <a:off x="6858000" y="2143125"/>
            <a:ext cx="171450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D687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0661E-DE6D-4182-AA34-F51D07FDD4FF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3333750" y="3524250"/>
            <a:ext cx="171450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E54C2-614B-4E8B-9041-D0229E2E522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3333750" y="2143125"/>
            <a:ext cx="171450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E7859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2F69DE5-08E3-4013-9AA8-48D188B6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3622992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Stakeholders and Users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4AD81E9-D765-487D-8CF9-BAF2822D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AC038D2-78B3-4B6F-BBB3-1AE956E0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D631C-3FA1-4A3E-ABD2-DE531F2A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19375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AgriMart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EDC79-8A15-476C-94D3-74CD4154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2428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Farmer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manage listings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reach buyers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ADDC0-115E-4373-8226-27B8A9EE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2428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Buyer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discover produce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compare prices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AB043A-9726-416B-9500-619CDAEE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71625"/>
            <a:ext cx="2428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5D687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Platform operator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secure services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maintain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9A03D-4344-4865-A750-579AC5E4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428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Project evaluator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review evidence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assess objectives</a:t>
            </a:r>
          </a:p>
        </p:txBody>
      </p:sp>
    </p:spTree>
    <p:extLst>
      <p:ext uri="{BB962C8B-B14F-4D97-AF65-F5344CB8AC3E}">
        <p14:creationId xmlns:p14="http://schemas.microsoft.com/office/powerpoint/2010/main" val="209859872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8927F51-C707-4040-97E8-287AFFAA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686625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Functional and Non-Functional Requirements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6916A6A-FF78-4C19-884A-266CAF7C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0573DD4-2D38-4C37-9CD2-28091BD7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C19B5-BD4C-443D-8828-20755F34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52578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FA251-CF8A-4236-98D4-AD0706EA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57325"/>
            <a:ext cx="483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875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Functional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17EAE-5AB5-46F1-91F3-460C3B11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A81D9-C922-4302-96A1-4ECB3A05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95500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Register and authenticate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F33ED0-735E-4065-B09D-F2CE1B28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86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FB5027-0BA6-421C-9DF5-38FBD679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19400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Create and browse listings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37BE8-421B-4F41-A0CD-6A88D337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9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12E02-412C-49C6-80CD-032BE3D9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43300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Save and compare products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BFA0B-CA73-4857-AF36-2553EDC4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E11B33-1E2F-47A7-A591-AA9B53DD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67200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Find nearby suppliers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B64642-5462-4D88-BACF-F7151573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57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85C105-FCBB-4C70-9344-A41DB72F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91100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Request a price forecast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48A724-DFAC-4139-996A-7C56DF12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85875"/>
            <a:ext cx="52578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A8013B-CAF3-4A8E-A1E1-8125F1F1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57325"/>
            <a:ext cx="483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875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416C98"/>
                </a:solidFill>
                <a:latin typeface="Calibri"/>
                <a:ea typeface="Calibri"/>
                <a:cs typeface="Calibri"/>
              </a:rPr>
              <a:t>Quality attributes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7819F1-8325-497B-9614-E8DC8366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9FD559-C275-41FE-82FF-FC75DB1A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95500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Secure session handling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0A78FE-7DB2-4C12-B4ED-AE3AE916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86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A66453-E34D-4B9C-8F74-78F0CB5C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19400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Clear validation and errors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22A489-002A-4132-82C0-4CA6DACA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09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1B589C-21F3-4F32-BF6C-BF97F386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43300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Responsive mobile and web UI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5AAB24-9EDA-421C-99B7-595ADF72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33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E4FDFC-F03D-4B7F-8D0C-972A6236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67200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Reliable service health checks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D448C5-BFEF-4173-91D3-79E8E564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57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ABFD4D-DFF8-4728-8BBB-4AC2CB24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91100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Traceable forecast uncertainty</a:t>
            </a:r>
          </a:p>
        </p:txBody>
      </p:sp>
    </p:spTree>
    <p:extLst>
      <p:ext uri="{BB962C8B-B14F-4D97-AF65-F5344CB8AC3E}">
        <p14:creationId xmlns:p14="http://schemas.microsoft.com/office/powerpoint/2010/main" val="75409771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89480-822C-4C56-B38A-815ACC7F821F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619875" y="4381500"/>
            <a:ext cx="1476375" cy="11906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B23B50-5FBA-452D-9D5F-1E904ABFA39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6619875" y="2262188"/>
            <a:ext cx="1476375" cy="71438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63851B-9A82-4C11-B5FA-970B117DAF5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762250" y="4381500"/>
            <a:ext cx="1285875" cy="11906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B073B-919C-4057-B7CB-FCB7C267A30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762250" y="2024063"/>
            <a:ext cx="1285875" cy="2357438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83E3C-8391-47C9-B6E9-9E3A8E6042A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762250" y="2333625"/>
            <a:ext cx="1285875" cy="2166938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E4FE5A-1326-4711-ABD5-9C3FC9C3F55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762250" y="2024063"/>
            <a:ext cx="1285875" cy="30956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CCCED2B-59E9-4A0B-981A-55A2B072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3146742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System Architecture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96A30B-9632-4A4C-B8BB-D6B8ACB1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2CDA239-008E-4332-8984-6CC2F83E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07396-7E57-4DFF-8C2A-DF552024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095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Mobile app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Expo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AD02E-309E-4E7F-A003-74B2B879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095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Web app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Next.js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418C8-59D9-4D4C-A20D-952CA91A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62125"/>
            <a:ext cx="2571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Marketplace API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Express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4DFAA-1E29-4216-9F9D-FAE0CBD4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810000"/>
            <a:ext cx="2571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EDD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Forecast API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FastAPI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8C29F-BB44-44C8-B42C-66F057B8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2857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Supabase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PostgreSQL + Storage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F4B43-5550-4A7A-8420-3C2F1320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2857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6EDD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XGBoost bundle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Processed monthly panel</a:t>
            </a:r>
          </a:p>
        </p:txBody>
      </p:sp>
    </p:spTree>
    <p:extLst>
      <p:ext uri="{BB962C8B-B14F-4D97-AF65-F5344CB8AC3E}">
        <p14:creationId xmlns:p14="http://schemas.microsoft.com/office/powerpoint/2010/main" val="163541820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D4763A-8829-43D2-8171-C9C68F1873E9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96000" y="2524125"/>
            <a:ext cx="3571875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7521C-8DFA-40DB-8F82-ED08375C468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524375" y="3929063"/>
            <a:ext cx="571500" cy="59531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ADAFA-AC61-41B6-AAEC-5D50E4E2E464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2524125"/>
            <a:ext cx="142875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8C4E5-85F5-436E-93A1-9A693495F045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2809875" y="2524125"/>
            <a:ext cx="3286125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C5E56EF-DDE4-47CD-BB18-7AF38EBC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363728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Database / Data Design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83187A0-B12B-4A2A-80AE-B9AC497F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F126301-6B42-4674-952B-2CFA02A6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8CD3D-4BB4-4858-B7A6-F63077F2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76375"/>
            <a:ext cx="3048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profiles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id • role • location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F8141-87A6-490F-A8D5-D3AC0FCF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33750"/>
            <a:ext cx="3429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products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supplier • category • price • coordinates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AE9D2-115F-4D60-AF36-82528F58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00500"/>
            <a:ext cx="2286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saved_products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profile ↔ product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75D5D-F57D-4656-B011-A6697B76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28575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5D687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notifications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recipient • message • 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DB1789-90D6-4663-B22C-275537F0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8162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Parameterized SQL and schema validation protect each write path</a:t>
            </a:r>
          </a:p>
        </p:txBody>
      </p:sp>
    </p:spTree>
    <p:extLst>
      <p:ext uri="{BB962C8B-B14F-4D97-AF65-F5344CB8AC3E}">
        <p14:creationId xmlns:p14="http://schemas.microsoft.com/office/powerpoint/2010/main" val="109577244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234E89-6AF6-4048-8E23-D4B7506448ED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3455670" y="2286000"/>
            <a:ext cx="2640330" cy="18573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DCBCA0-3BF8-406C-82B7-FBE038B5DA20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3455670" y="2286000"/>
            <a:ext cx="264033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E7859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FADD72-6D7B-47E5-8FBB-412A716A9958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490710" y="44862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6C0680-AEEF-489E-B506-524BCC03A014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741920" y="44862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3BDA04-2970-4C1D-AB43-8276E34B6437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993130" y="44862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AE6260-6B8E-46B5-843D-34CC007FC526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244340" y="44862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10144D-121F-41F4-B338-83C1B8BB430F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490710" y="30099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6D5CC-6A4C-4DEE-99A3-A0A54245E894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741920" y="30099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16367-7322-4258-BB24-C8EEB6F1A52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93130" y="30099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981B2-E0F6-4C0A-8255-6CFB8C6CFD5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44340" y="30099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E4E5FA5-3598-4E82-A510-ADA2D81D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502468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Interface / Interaction Design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703A057-E9BC-4021-A23F-7EAE0C76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51AA021-2B13-4971-8BBE-CD7B014B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BC4B5-1938-49C1-A42B-85D570F7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381125"/>
            <a:ext cx="35242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Shared app shell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authentication • profile • settings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35DA4-B205-4DBA-AC6E-91210488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DB023-2D00-4A14-8696-40A302B5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67000"/>
            <a:ext cx="157734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94F21-DE6F-4056-91DB-CFF766FE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5790" y="2667000"/>
            <a:ext cx="157734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Browse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AA41C-BD44-4819-82C5-85991E33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580" y="2667000"/>
            <a:ext cx="157734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Product details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FDDBF-D221-4CB5-A483-1AAD2DE3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370" y="2667000"/>
            <a:ext cx="157734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Save / 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1FC3B-8F0C-4139-8E1E-47834E6F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667000"/>
            <a:ext cx="157734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Nearby / forecast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0BC281-C3AB-438D-9744-3FEB2ABE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FARMER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110971-56DF-4884-B439-6A517E01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43375"/>
            <a:ext cx="157734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My Farm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70AAF-B3A7-45CA-8212-332C7F5F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5790" y="4143375"/>
            <a:ext cx="157734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My listings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9171AA-FEDC-4296-8143-3F76ADEE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580" y="4143375"/>
            <a:ext cx="157734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Add product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FDB68E-B1F2-46DA-A43A-7652EC8A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370" y="4143375"/>
            <a:ext cx="157734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Edit / sold 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536223-B79E-4F67-B292-A954341D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4143375"/>
            <a:ext cx="157734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Location / profile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016017-9519-414E-AB1B-C1F807E8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Role-aware navigation exposes the right tasks while reusing shared components and service contracts</a:t>
            </a:r>
          </a:p>
        </p:txBody>
      </p:sp>
    </p:spTree>
    <p:extLst>
      <p:ext uri="{BB962C8B-B14F-4D97-AF65-F5344CB8AC3E}">
        <p14:creationId xmlns:p14="http://schemas.microsoft.com/office/powerpoint/2010/main" val="5955360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ACF6F-73AA-4135-8921-1E38576D6B2D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86925" y="29051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8A3C5-B17D-4CF5-9778-86FDC493A6FB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848600" y="29051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0CD2F-A496-4430-B90A-432FE18122FF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010275" y="29051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29310-F660-4D00-A1E7-DC4CE235340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171950" y="29051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6D003-28E5-4FAB-ACE1-6B4D05F203C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33625" y="29051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F80ADE6-11D5-4900-94B2-374F3B4B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953442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Algorithms / Models / Technical Design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721B387-89FB-4D9D-91E9-9BF5959B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4D71275-85BD-4399-A5AF-658F0C63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636B2-AFD2-4F1F-ADC7-8306E912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6668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Monthly prices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8FDD6-06A2-4975-A411-7467290A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286000"/>
            <a:ext cx="16668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Lag + momentum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45501-E124-49D0-BB2C-5D999E5F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86000"/>
            <a:ext cx="16668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Rolling + seasonal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186C4-E5CC-4295-AFBD-72D8B101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86000"/>
            <a:ext cx="16668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XGBoost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C0345-FDF6-46A4-A24A-0DB28767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86000"/>
            <a:ext cx="16668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Prediction interval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234CB-F95B-49E8-ABB2-6FE5250D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86000"/>
            <a:ext cx="16668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FastAPI 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26F68-869D-47B3-A6AD-FE9F2461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2381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2550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416C98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BA5246-D228-4508-B428-C9ECF770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7682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engineered features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12242-6494-485C-8878-6EF840DF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333875"/>
            <a:ext cx="2381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2550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B68432"/>
                </a:solidFill>
                <a:latin typeface="Calibri"/>
                <a:ea typeface="Calibri"/>
                <a:cs typeface="Calibri"/>
              </a:rPr>
              <a:t>1 month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32F110-2B68-4A83-A3D1-8B6B3839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07682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forecast horizon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98C4EE-A33D-4433-80A2-84882F60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2381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25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90%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CE8147-EA36-4215-A7B0-313E499A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nominal interval</a:t>
            </a:r>
          </a:p>
        </p:txBody>
      </p:sp>
    </p:spTree>
    <p:extLst>
      <p:ext uri="{BB962C8B-B14F-4D97-AF65-F5344CB8AC3E}">
        <p14:creationId xmlns:p14="http://schemas.microsoft.com/office/powerpoint/2010/main" val="190640803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92D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A33B633-EBF4-4E6A-B37B-993CA6A0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3583305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buNone/>
              <a:defRPr sz="4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Implementation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535F6D1-BC4E-474A-83F5-A3F36C98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D84EC12-C503-40AD-A4FE-0D61C9C3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A3448-C0F7-48DA-BA46-EDB51B50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10000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D7E0EC"/>
                </a:solidFill>
                <a:latin typeface="Calibri"/>
                <a:ea typeface="Calibri"/>
                <a:cs typeface="Calibri"/>
              </a:rPr>
              <a:t>Four deployable components joined through explicit API contracts</a:t>
            </a:r>
          </a:p>
        </p:txBody>
      </p:sp>
    </p:spTree>
    <p:extLst>
      <p:ext uri="{BB962C8B-B14F-4D97-AF65-F5344CB8AC3E}">
        <p14:creationId xmlns:p14="http://schemas.microsoft.com/office/powerpoint/2010/main" val="32420525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FD895-5036-4509-8E10-E80F022AD798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80575" y="3000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4C8FCD-6C29-4DD3-9CD5-6E2F5A68AC49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835900" y="3000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D34FC1-DF77-4D6A-ADC4-0A688A5E1B40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991225" y="3000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4990A6-65AD-4C92-BE30-DC2E983C46D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146550" y="3000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462C5-D9D0-41EC-AC35-2E7F2F4E07D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01875" y="3000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DE6B9AC-3B39-48C9-929E-7F4704B7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5480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Development Environment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F1528F8-E7BA-4A33-973A-CAB223A2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E80F90E-0B1D-400D-863D-CEF774BE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DD067-0AA1-428F-869C-A56A1493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1635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VS Code + Git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A6054-01C3-482C-804E-8AD48A46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425" y="2428875"/>
            <a:ext cx="1635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Local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AA4CC-BC99-441B-B289-5C317B1D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428875"/>
            <a:ext cx="1635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Automated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D873A-ADD5-448C-B01D-483145AF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28875"/>
            <a:ext cx="1635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Docker image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3E3D03-21B8-4E07-93C7-B7FFE579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428875"/>
            <a:ext cx="1635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Hosted APIs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47D7B2-4D4A-48CC-89C0-256C97CF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125" y="2428875"/>
            <a:ext cx="1635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Mobile / web clients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134299-4D77-4E06-AD90-5B7A2B1E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5143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Reproducible environments</a:t>
            </a:r>
          </a:p>
          <a:p xmlns:a="http://schemas.openxmlformats.org/drawingml/2006/main">
            <a:pPr algn="ctr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npm lockfiles • uv.lock • Dockerfile</a:t>
            </a:r>
          </a:p>
        </p:txBody>
      </p:sp>
    </p:spTree>
    <p:extLst>
      <p:ext uri="{BB962C8B-B14F-4D97-AF65-F5344CB8AC3E}">
        <p14:creationId xmlns:p14="http://schemas.microsoft.com/office/powerpoint/2010/main" val="155716492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10EF468-AE0F-41D1-ADD7-4E9AC3B5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79615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System Components / Modules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5589503-24AC-40D9-A193-2F6647AF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E44776E-1AA3-45E1-93D0-E496A0BA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96F6F-A72E-4517-A6E5-C4AB0088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14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4DFAD-2E65-45F9-8757-9DA369AE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Mobile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buyer + farmer flows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31594-BC61-4299-884B-A217C8C1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14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7E30D-3786-4F32-8041-54F211D0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09875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Web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responsive marketplace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95E0D-C9D7-4F9B-B7E6-3222AD34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14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A41118-CE90-4E87-8A36-070DF4CE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9875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Express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auth + listings + saves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965CE-D821-434F-ABC6-ABB1844A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14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4EDA4-7D16-447C-8BD6-E9038F4F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09875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FastAPI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catalogue + forecast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9461E-5AD3-44BD-AA90-CB905D36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3DD3A7-97FF-43BB-BB4D-43584EFC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9875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Data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Postgres + model 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2B6F48-AC5B-4CED-94C7-326DCFAB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Each component can run, test, and deploy independently</a:t>
            </a:r>
          </a:p>
        </p:txBody>
      </p:sp>
    </p:spTree>
    <p:extLst>
      <p:ext uri="{BB962C8B-B14F-4D97-AF65-F5344CB8AC3E}">
        <p14:creationId xmlns:p14="http://schemas.microsoft.com/office/powerpoint/2010/main" val="189945202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AEA0B70-6423-4AF2-94F2-89147491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264342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Key Implementation Details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2008721-162B-4982-A2CC-B39FDBC2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9C15652-C8FB-4D77-83F2-CB289FE7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99235-4207-40F7-A6AB-22A578EE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2381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Authentication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F37AE-8412-44E8-B97D-35ED0676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381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JWT + bcrypt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SecureStore on mobile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1D4E3-B946-45CC-899C-9050358B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619250"/>
            <a:ext cx="2381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Listings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6D71C-4335-4412-B9AB-7E54B6D8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81250"/>
            <a:ext cx="2381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multipart images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validated CRUD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C59E0-A95E-40A7-86F8-1A7D5112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19250"/>
            <a:ext cx="2381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5D6876"/>
          </a:solidFill>
          <a:ln xmlns:a="http://schemas.openxmlformats.org/drawingml/2006/main" w="14288">
            <a:solidFill>
              <a:srgbClr val="5D687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1B5B3-D560-4127-A3D2-D21128E6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81250"/>
            <a:ext cx="2381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5D687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GPS + product pins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Haversine sorting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FD11B-AF69-42CD-BA40-44EB797D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619250"/>
            <a:ext cx="2381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B68432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Forecasting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F3729-B2C6-4042-BE19-90A93A49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381250"/>
            <a:ext cx="2381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commodity matching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bounds + stale warnings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9380B0-2B64-479D-B119-F9A65DDC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53000"/>
            <a:ext cx="8001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Cross-service contract: marketplace state stays in Express; model inference stays in FastAPI</a:t>
            </a:r>
          </a:p>
        </p:txBody>
      </p:sp>
    </p:spTree>
    <p:extLst>
      <p:ext uri="{BB962C8B-B14F-4D97-AF65-F5344CB8AC3E}">
        <p14:creationId xmlns:p14="http://schemas.microsoft.com/office/powerpoint/2010/main" val="97680388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2A8D2-850B-4D88-B959-A7C11ADF35CE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762500" y="5191125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92D4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63C3F-1C24-4681-83F6-DC196264FC44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762500" y="4048125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92D4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A7A61-C9C1-44EC-9656-290925A3E2A7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762500" y="2905125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92D4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3D316-1A46-4D91-8F73-93B3B3D13BA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762500" y="1762125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92D4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A449D2D-842E-4DC6-A0B9-0CB04B7C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3854768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Challenges and Solutions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B4380A2-A25C-4AD7-8124-0CAB706A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D20B690-8179-4BD2-B168-0AEE6654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57B47-CD9A-4DFA-AECD-BD491C3F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000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E8E8"/>
          </a:solidFill>
          <a:ln xmlns:a="http://schemas.openxmlformats.org/drawingml/2006/main" w="14288">
            <a:solidFill>
              <a:srgbClr val="9A4F4F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Unstable service URLs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1EC10-0C5F-475C-995D-8C5C2C7C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81125"/>
            <a:ext cx="4476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Separate environment variables for Express and 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60BD5-EFF1-4654-ACCB-5D05ED62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4000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E8E8"/>
          </a:solidFill>
          <a:ln xmlns:a="http://schemas.openxmlformats.org/drawingml/2006/main" w="14288">
            <a:solidFill>
              <a:srgbClr val="9A4F4F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Image persistence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43290-A071-4BB9-A122-0483ECE3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24125"/>
            <a:ext cx="4476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Supabase Storage path with local fallback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18824-FAA1-440F-82AC-FFF73F41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4000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E8E8"/>
          </a:solidFill>
          <a:ln xmlns:a="http://schemas.openxmlformats.org/drawingml/2006/main" w="14288">
            <a:solidFill>
              <a:srgbClr val="9A4F4F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Location accuracy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000A5-BB46-4C1B-A4F8-130DB7C4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67125"/>
            <a:ext cx="4476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Explicit map pin plus device GPS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BE140-8D39-46DE-8575-A38B5C7C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000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E8E8"/>
          </a:solidFill>
          <a:ln xmlns:a="http://schemas.openxmlformats.org/drawingml/2006/main" w="14288">
            <a:solidFill>
              <a:srgbClr val="9A4F4F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Forecast uncertainty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B1DA88-FB66-442F-9271-10FED92B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4476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Bounds and stale-series warnings in the UI</a:t>
            </a:r>
          </a:p>
        </p:txBody>
      </p:sp>
    </p:spTree>
    <p:extLst>
      <p:ext uri="{BB962C8B-B14F-4D97-AF65-F5344CB8AC3E}">
        <p14:creationId xmlns:p14="http://schemas.microsoft.com/office/powerpoint/2010/main" val="106897968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92D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50BEF9B-D918-41D9-9559-CD6707C6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41960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buNone/>
              <a:defRPr sz="4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Testing and Results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F0C3C1A-E329-4EC2-9649-1B00C346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4652A45-AE16-41FE-A519-01ED26E5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A44FC-65DC-4523-806B-1DE68E8C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10000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D7E0EC"/>
                </a:solidFill>
                <a:latin typeface="Calibri"/>
                <a:ea typeface="Calibri"/>
                <a:cs typeface="Calibri"/>
              </a:rPr>
              <a:t>Automated verification plus held-out forecasting evaluation</a:t>
            </a:r>
          </a:p>
        </p:txBody>
      </p:sp>
    </p:spTree>
    <p:extLst>
      <p:ext uri="{BB962C8B-B14F-4D97-AF65-F5344CB8AC3E}">
        <p14:creationId xmlns:p14="http://schemas.microsoft.com/office/powerpoint/2010/main" val="203380018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EFBE3D4-A1DF-4D02-A09A-E45E7D60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511743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Testing Strategy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9CBC013-4FA6-4AA2-B258-77B120CA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5777D97-C18E-4220-B604-32E9A40E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9BBF4-ADAD-48EA-A5A2-A9AF5832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4191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User flow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4576A-F837-4AFA-BC2A-FB7E8AEC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33625"/>
            <a:ext cx="5905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API integration and contracts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A134E-D9D5-467F-AC76-7EF8A341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81375"/>
            <a:ext cx="7715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Services, validation, 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87520-21B5-4D72-AC4B-E1B153C4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24375"/>
            <a:ext cx="952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5D687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Unit tests: helpers, mappings, preprocessing</a:t>
            </a:r>
          </a:p>
        </p:txBody>
      </p:sp>
    </p:spTree>
    <p:extLst>
      <p:ext uri="{BB962C8B-B14F-4D97-AF65-F5344CB8AC3E}">
        <p14:creationId xmlns:p14="http://schemas.microsoft.com/office/powerpoint/2010/main" val="38731766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AFC09FA-7429-493D-A67E-64E7259F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91008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Test Results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B1E9365-25AD-42EE-B576-D468B5F8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4B13557-9A29-456B-A99C-2D31ED05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CAB48-9225-4F4A-835D-DE13FE40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285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2550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416C98"/>
                </a:solidFill>
                <a:latin typeface="Calibri"/>
                <a:ea typeface="Calibri"/>
                <a:cs typeface="Calibri"/>
              </a:rPr>
              <a:t>15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8E578-8E11-4C26-9D0E-3EEC0002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098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backend tests passed</a:t>
            </a:r>
          </a:p>
          <a:p xmlns:a="http://schemas.openxmlformats.org/drawingml/2006/main">
            <a: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1 upload test timed 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41227-3D87-483A-BEB2-A22B04CF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66875"/>
            <a:ext cx="285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25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7 / 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7E0D2-7263-4E4C-B8DF-313AFB0C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098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mobile contract tests passed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353AA2-AE83-4942-8CA0-97DD2D84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66875"/>
            <a:ext cx="285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DD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2550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B68432"/>
                </a:solidFill>
                <a:latin typeface="Calibri"/>
                <a:ea typeface="Calibri"/>
                <a:cs typeface="Calibri"/>
              </a:rPr>
              <a:t>4 /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628CD-468B-4277-9511-CA6E0ACE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098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ML API tests passed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152553-5566-4831-AE21-2F273BFB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14750"/>
            <a:ext cx="7429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 of 27 automated checks passed in the verification 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4944B-E6CA-40A3-A49B-844D7A66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05375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35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9A4F4F"/>
                </a:solidFill>
                <a:latin typeface="Calibri"/>
                <a:ea typeface="Calibri"/>
                <a:cs typeface="Calibri"/>
              </a:rPr>
              <a:t>Open issue: backend upload test exceeded the 5-second limit and left an asynchronous bcrypt operation</a:t>
            </a:r>
          </a:p>
        </p:txBody>
      </p:sp>
    </p:spTree>
    <p:extLst>
      <p:ext uri="{BB962C8B-B14F-4D97-AF65-F5344CB8AC3E}">
        <p14:creationId xmlns:p14="http://schemas.microsoft.com/office/powerpoint/2010/main" val="7255266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44A79AF-C0B6-4CE4-A86B-A524C2E2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49465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Performance / Experimental Results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D2CE858-DA16-405B-8120-3221B52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72CE8EA-88AE-471C-ABE1-BB73A3B9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33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00661-838D-4EDA-BEE7-E51703F65E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2dd86d601b43db"/>
          <a:stretch xmlns:a="http://schemas.openxmlformats.org/drawingml/2006/main"/>
        </p:blipFill>
        <p:spPr>
          <a:xfrm xmlns:a="http://schemas.openxmlformats.org/drawingml/2006/main">
            <a:off x="619125" y="1923688"/>
            <a:ext cx="5905500" cy="291537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DDBDF-A7E0-474D-BB04-29553AC8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71625"/>
            <a:ext cx="1952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25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9.35%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FA249-12CF-415B-BBF4-6CAB015D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1457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validation MAPE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FCEA6-0880-44BB-93CC-EEC00A71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571625"/>
            <a:ext cx="1952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DD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2550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B68432"/>
                </a:solidFill>
                <a:latin typeface="Calibri"/>
                <a:ea typeface="Calibri"/>
                <a:cs typeface="Calibri"/>
              </a:rPr>
              <a:t>10.62%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B0A54-CEA2-459D-9861-E25479E6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1457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held-out test MAPE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88660-1315-41BC-8FA9-634525A5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33750"/>
            <a:ext cx="1952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2550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416C98"/>
                </a:solidFill>
                <a:latin typeface="Calibri"/>
                <a:ea typeface="Calibri"/>
                <a:cs typeface="Calibri"/>
              </a:rPr>
              <a:t>ZMW 2.53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A40C9E-6502-48F1-8C40-FA3205D9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767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test MAE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6E432-2BD9-4177-8CA7-42DE2FFB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33750"/>
            <a:ext cx="1952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25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91.7%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058BBC-6C65-42EA-8105-2D0CB5A7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767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coverage of 90% interval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6E4A7-F367-47BF-8BF0-F29F2F0D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191125"/>
            <a:ext cx="452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XGBoost improves test MAPE over the 11.16% last-value baseline</a:t>
            </a:r>
          </a:p>
        </p:txBody>
      </p:sp>
    </p:spTree>
    <p:extLst>
      <p:ext uri="{BB962C8B-B14F-4D97-AF65-F5344CB8AC3E}">
        <p14:creationId xmlns:p14="http://schemas.microsoft.com/office/powerpoint/2010/main" val="205641339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02284-7DE7-4B30-91A6-BB8008E9455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553575" y="21431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35BD77-5F30-4E0C-A233-24CAEA149A29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962900" y="21431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CF16C-D38A-4E17-BBCA-69CD909A03F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372225" y="21431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C78A4F2-95B4-4764-BE23-9FBA288E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48475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User Evaluation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C700159-8A62-4486-AD0A-3AD02849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1379E69-0333-44A3-9D8F-78A8A68C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5B07D-9760-473E-9A3F-4A32209D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3143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EDD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8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Formal field-user study</a:t>
            </a:r>
          </a:p>
          <a:p xmlns:a="http://schemas.openxmlformats.org/drawingml/2006/main">
            <a:pPr algn="ctr">
              <a:defRPr sz="18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Not yet completed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D8CD2-802C-401A-B9EB-6CA76D9D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66875"/>
            <a:ext cx="14192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Recruit farmers + buyers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E97CB-94B0-4866-9184-290F914D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666875"/>
            <a:ext cx="14192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Task-based sessions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F0DA9-7F98-4490-9E5E-87652BDD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66875"/>
            <a:ext cx="14192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SUS questionnaire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045D6-70DA-4D11-996D-8F33921C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666875"/>
            <a:ext cx="14192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Prioritize changes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725BAF-BA3C-4F5D-833A-82542B54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62375"/>
            <a:ext cx="6191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Current evidence</a:t>
            </a:r>
          </a:p>
          <a:p xmlns:a="http://schemas.openxmlformats.org/drawingml/2006/main">
            <a:pPr algn="ctr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Automated tests • implemented flows • repository documentation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10C02-D9DE-41BC-85CF-0682A005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35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9A4F4F"/>
                </a:solidFill>
                <a:latin typeface="Calibri"/>
                <a:ea typeface="Calibri"/>
                <a:cs typeface="Calibri"/>
              </a:rPr>
              <a:t>No user satisfaction score is claimed without collected participant data</a:t>
            </a:r>
          </a:p>
        </p:txBody>
      </p:sp>
    </p:spTree>
    <p:extLst>
      <p:ext uri="{BB962C8B-B14F-4D97-AF65-F5344CB8AC3E}">
        <p14:creationId xmlns:p14="http://schemas.microsoft.com/office/powerpoint/2010/main" val="67759735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6296465-4134-4720-9CF2-51AF1E73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178742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Objective-by-Objective Evaluation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36757DE-30C4-46BC-B800-AFD927B5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90654A8-EFE7-4632-80ED-DA050771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3BF6D-A95C-4651-B483-DC6EBEA1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2476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Marketplace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ABFF2-97D0-486C-AD00-0627DF13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81125"/>
            <a:ext cx="5619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Mobile + web flows, listings, search,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25A82-9F7F-4E53-8802-38EAEC1E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81125"/>
            <a:ext cx="2095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ACHIEVED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AEBAB-4AB8-4F47-93D0-E273EB34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476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Price forecasting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4D307-D2E9-4609-8E10-693849BA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76500"/>
            <a:ext cx="5619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FastAPI + XGBoost + uncertainty bounds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A2558-FFB1-48D9-96B4-50A0FB1F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76500"/>
            <a:ext cx="2095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ACHIEVED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F7189-1901-46E6-8EB4-FD0C9C79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2476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Availability forecasting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AAD4D7-FCB9-4F34-B810-5E1B6FCC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71875"/>
            <a:ext cx="5619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No implemented availability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84FA40-CBF8-413D-A755-EDFCCCE2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71875"/>
            <a:ext cx="2095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PENDING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CFD69-C7CE-4DDE-8EA4-3CEFE3F7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476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Validated usability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0021B-1686-413C-BC2E-D2446806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67250"/>
            <a:ext cx="5619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Formal participant study not completed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483F06-53C2-48EA-B363-9C170A0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67250"/>
            <a:ext cx="2095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PENDING</a:t>
            </a:r>
          </a:p>
        </p:txBody>
      </p:sp>
    </p:spTree>
    <p:extLst>
      <p:ext uri="{BB962C8B-B14F-4D97-AF65-F5344CB8AC3E}">
        <p14:creationId xmlns:p14="http://schemas.microsoft.com/office/powerpoint/2010/main" val="94360622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92D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D7DE7B7-BF1C-4B9F-A867-230BF6AB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5277167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buNone/>
              <a:defRPr sz="4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Individual Contributions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8CC8895-3AB3-447F-9478-0F824DC0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1BB9869-A78C-43FF-8ACA-E156BB37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86D29-FA01-4F0F-9E3C-F5CA7528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10000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D7E0EC"/>
                </a:solidFill>
                <a:latin typeface="Calibri"/>
                <a:ea typeface="Calibri"/>
                <a:cs typeface="Calibri"/>
              </a:rPr>
              <a:t>Two contributors with distinct mobile and ML, web and backend responsibilities</a:t>
            </a:r>
          </a:p>
        </p:txBody>
      </p:sp>
    </p:spTree>
    <p:extLst>
      <p:ext uri="{BB962C8B-B14F-4D97-AF65-F5344CB8AC3E}">
        <p14:creationId xmlns:p14="http://schemas.microsoft.com/office/powerpoint/2010/main" val="74483340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EAE456-8883-4798-9783-59A0F6AB0CDE}"/>
              </a:ext>
            </a:extLst>
          </p:cNvPr>
          <p:cNvCxnSpPr>
            <a:stCxn xmlns:a="http://schemas.openxmlformats.org/drawingml/2006/main" id="16" idx="6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7096125" y="3500438"/>
            <a:ext cx="809625" cy="452438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959FFB-6C87-4E71-808F-3C4CC7173EE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6" idx="2"/>
          </p:cNvCxnSpPr>
          <p:nvPr/>
        </p:nvCxnSpPr>
        <p:spPr>
          <a:xfrm xmlns:a="http://schemas.openxmlformats.org/drawingml/2006/main">
            <a:off x="4286250" y="3500438"/>
            <a:ext cx="809625" cy="452438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988C1-16C1-422B-AC32-3E3528732313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9620250" y="400050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8016B-0FCA-46EF-BEB6-F095D1F5B48A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620250" y="2524125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0C91D-48BB-4093-AC3F-B597890BCA54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571750" y="400050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A92AE-5887-47F5-ABDF-B337ED70ABE2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571750" y="2524125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21EBC07-2364-4394-AA99-02FD334C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3743643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Individual Contributions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14AB812-F3BF-4B6D-B3DC-93C589CC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E1B1DA6-3F25-481C-94FA-21D6388D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A59D5-72A0-4115-A576-ABA80234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3429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MWALE Jonathan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2021512967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1101C-2A15-42E9-9417-DF9071C0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3429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Expo / React Native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mobile 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1EA04-92F7-4AD0-B7B2-C69981D6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3429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6EDD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XGBoost pipeline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and FastAPI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549CC-73B4-4033-9AC3-25D74EB9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3429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Chengetai Mtengo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7E922-E50E-46CF-8183-65358B9C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00375"/>
            <a:ext cx="3429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Node.js / Express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marketplace 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09AC6-AD15-4E91-A4D5-8032EA80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29125"/>
            <a:ext cx="3429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Next.js web application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and Supabase integration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ABE450-ABB5-40A1-9D74-073D5FBA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527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Shared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integration</a:t>
            </a:r>
          </a:p>
        </p:txBody>
      </p:sp>
    </p:spTree>
    <p:extLst>
      <p:ext uri="{BB962C8B-B14F-4D97-AF65-F5344CB8AC3E}">
        <p14:creationId xmlns:p14="http://schemas.microsoft.com/office/powerpoint/2010/main" val="141353996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B888BA-AA0D-4C9A-95CA-576517A781EE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736455" y="3309938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E8CED7-EC8F-40CD-A083-499E26E9FCB6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138160" y="3309938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19892E-7E27-4C4C-8144-8E03BB6004C0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539865" y="3309938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69AF28-219D-45A6-8BDD-67369301138A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941570" y="3309938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871782-682B-4F83-973C-00DB58250B88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736455" y="1690688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8E1F4-C9AA-4EEA-BB05-C22567944F4F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138160" y="1690688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ED36F-750A-421F-AFD3-36FD80B325FA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539865" y="1690688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0A4EC-49A2-42FD-B9D7-B5D89F52806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941570" y="1690688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A2178FE-03B8-4969-94DB-039F2423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17715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Individual Technical Contributions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6AD6256-D789-461F-A084-C5759887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CAAF1FE-BF09-4BF7-ABC5-329F4D46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123EC-3327-4372-89F7-13CE8348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2476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MWALE Jonathan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A9F30-1E1C-4695-8122-56BE0695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81125"/>
            <a:ext cx="1464945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Expo Router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92C41-A51E-4F93-8174-6D3A7EB7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381125"/>
            <a:ext cx="1464945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SecureStore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D0EEE-8A76-4C61-9A77-2C72B3B0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215" y="1381125"/>
            <a:ext cx="1464945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Maps + uploads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E6A53-553E-4BF4-B8D5-72137157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1510" y="1381125"/>
            <a:ext cx="1464945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CRISP-DM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08E29D-1C64-4D0B-83AA-888DD487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1381125"/>
            <a:ext cx="1464945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XGBoost + FastAPI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BB4968-050E-4491-8601-2E0BFC00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2476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Chengetai Mtengo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6BD2F-C6FF-4D72-BCE8-05F1308D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00375"/>
            <a:ext cx="1464945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Express routes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A030A8-9984-42E3-9299-AF5AF6B2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000375"/>
            <a:ext cx="1464945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JWT +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0B219A-5824-4493-9A69-52F58383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215" y="3000375"/>
            <a:ext cx="1464945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PostgreSQL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F2055E-4551-427A-919F-904941FD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1510" y="3000375"/>
            <a:ext cx="1464945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Next.js UI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2AD120-D2C0-4791-A696-482B9FFF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3000375"/>
            <a:ext cx="1464945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Storage + deployment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C506D0-4C2B-476C-A99F-D8BF8C6A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67250"/>
            <a:ext cx="7429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Joint work</a:t>
            </a:r>
          </a:p>
          <a:p xmlns:a="http://schemas.openxmlformats.org/drawingml/2006/main">
            <a:pPr algn="ctr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API contracts, integration tests, environment configuration, and end-to-end verification</a:t>
            </a:r>
          </a:p>
        </p:txBody>
      </p:sp>
    </p:spTree>
    <p:extLst>
      <p:ext uri="{BB962C8B-B14F-4D97-AF65-F5344CB8AC3E}">
        <p14:creationId xmlns:p14="http://schemas.microsoft.com/office/powerpoint/2010/main" val="177683997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192D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BBD1F63-5B46-4982-B594-E9430D70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395855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buNone/>
              <a:defRPr sz="4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Discussion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7B3AAB6-A628-4B2D-AB73-6267E44B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4FD9F8E-60AD-40D7-B29D-2869C24E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9FF22-3EE8-437A-BA61-9964D646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10000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D7E0EC"/>
                </a:solidFill>
                <a:latin typeface="Calibri"/>
                <a:ea typeface="Calibri"/>
                <a:cs typeface="Calibri"/>
              </a:rPr>
              <a:t>What the implementation and evaluation evidence mean</a:t>
            </a:r>
          </a:p>
        </p:txBody>
      </p:sp>
    </p:spTree>
    <p:extLst>
      <p:ext uri="{BB962C8B-B14F-4D97-AF65-F5344CB8AC3E}">
        <p14:creationId xmlns:p14="http://schemas.microsoft.com/office/powerpoint/2010/main" val="2609957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3796762-3BEC-4B66-B05E-FE4A5E03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3410268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Discussion of Findings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6378ECF-7438-4CD3-AA33-1C01ACA0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EFB3AEF-E9C6-496D-83F1-048C74B0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64260-8886-4907-A7F1-3A58232E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143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Marketplace finding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77C26-F14A-4E9C-BC3B-2276A7B7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4857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7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Direct discovery, comparison, contact, maps, and listing management now operate through shared APIs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A5706-4E6F-461C-A2D9-EDDDD329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76375"/>
            <a:ext cx="3143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B68432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Forecasting finding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10A0A-BB36-428F-83A0-5C70118D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86000"/>
            <a:ext cx="4857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DD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7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The model beats the naive test baseline, but misses the 10% test-MAPE target and produces wide intervals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E8EB4D-F0B8-4362-8B91-AD2DDCA2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953000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80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9A4F4F"/>
                </a:solidFill>
                <a:latin typeface="Calibri"/>
                <a:ea typeface="Calibri"/>
                <a:cs typeface="Calibri"/>
              </a:rPr>
              <a:t>Decision support is appropriate; guaranteed-price language is not</a:t>
            </a:r>
          </a:p>
        </p:txBody>
      </p:sp>
    </p:spTree>
    <p:extLst>
      <p:ext uri="{BB962C8B-B14F-4D97-AF65-F5344CB8AC3E}">
        <p14:creationId xmlns:p14="http://schemas.microsoft.com/office/powerpoint/2010/main" val="160285681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E6CF2B7-96B5-4423-82C6-063ADEA5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3324543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Project Contributions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CBBD025-D9C1-4898-9652-F88EB564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768F0D3-1810-4604-87AF-43A1924E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4D630-C1AD-473D-A6F3-1500750A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57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B0862-EB40-4C4E-9D57-B0FAD5A9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381125"/>
            <a:ext cx="2000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Technical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86242-6D80-4F24-AB77-0F7ECBBF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7143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Integrated mobile, web, marketplace API, and forecasting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EA259-BBB4-4594-A1B0-BE8FD256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527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BE177-2A10-47A6-8637-BCFA63FD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76500"/>
            <a:ext cx="2000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Practical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4D1F2-B731-4956-9DEF-F450D14B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76500"/>
            <a:ext cx="7143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Supplier discovery, price comparison, and direct contact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757B1-6780-49BB-9965-2BDDB0D1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480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337F2-60AF-4912-9B68-95A5325D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71875"/>
            <a:ext cx="2000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32515D-6B1F-4D14-9842-39B96E84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71875"/>
            <a:ext cx="7143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Evaluated province × commodity forecasting on Zambian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45453C-3F03-4A80-92B6-7054A3B0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43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876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4D921D-8A71-4013-A805-7385D76C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2000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7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Engineering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F5839-A754-41C8-9443-AF7B5293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67250"/>
            <a:ext cx="7143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5D687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Reproducible model artifacts, tests, and deployment paths</a:t>
            </a:r>
          </a:p>
        </p:txBody>
      </p:sp>
    </p:spTree>
    <p:extLst>
      <p:ext uri="{BB962C8B-B14F-4D97-AF65-F5344CB8AC3E}">
        <p14:creationId xmlns:p14="http://schemas.microsoft.com/office/powerpoint/2010/main" val="142685954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D718481-1165-4E08-B55C-2D443830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81800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Limitations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71883CF-2E2E-41D9-A976-9F157FE9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2B252C5-2306-4F6A-8252-77B450F6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DA6BA-FCBE-4709-A2F0-A8192897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!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49B8B3-7807-45CF-8E39-7480262B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47637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725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68432"/>
                </a:solidFill>
                <a:latin typeface="Calibri"/>
                <a:ea typeface="Calibri"/>
                <a:cs typeface="Calibri"/>
              </a:rPr>
              <a:t>Forecast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F5AF6-7371-4D81-A237-C1B400E9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47875"/>
            <a:ext cx="4095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Some price series are historical or stale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4034F-B430-4EB2-A1CE-1C076669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F4F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!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87509-444C-40F6-BB29-46B48860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7637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725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9A4F4F"/>
                </a:solidFill>
                <a:latin typeface="Calibri"/>
                <a:ea typeface="Calibri"/>
                <a:cs typeface="Calibri"/>
              </a:rPr>
              <a:t>Uncertainty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61DC6-B286-4897-A7CA-6D541277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95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Average 90% interval width is about 70% of forecast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88F81-14E6-41D9-8E3A-D1FBB9D9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876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!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66621-1B62-4B4E-8E18-E20C6542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6671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725" b="1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B0BB75-35F8-499E-B19D-31135EF0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38625"/>
            <a:ext cx="4095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Availability prediction, payments, and delivery remain outside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59425C-D909-401C-B610-3424A8FA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!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D56CED-9874-4C8D-AEE7-F472A742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725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416C98"/>
                </a:solidFill>
                <a:latin typeface="Calibri"/>
                <a:ea typeface="Calibri"/>
                <a:cs typeface="Calibri"/>
              </a:rPr>
              <a:t>Evaluation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5D6260-F2A8-4C6D-BCE8-4519BBD4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38625"/>
            <a:ext cx="4095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No completed field-user study or SUS score</a:t>
            </a:r>
          </a:p>
        </p:txBody>
      </p:sp>
    </p:spTree>
    <p:extLst>
      <p:ext uri="{BB962C8B-B14F-4D97-AF65-F5344CB8AC3E}">
        <p14:creationId xmlns:p14="http://schemas.microsoft.com/office/powerpoint/2010/main" val="101536445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192D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AF4DC12-097A-4B81-8942-08833AEE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483168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buNone/>
              <a:defRPr sz="4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A3603CA-BD11-4607-BA7E-850964DC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ED2F959-9B6A-4791-9E26-5F2AB3C2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0C2C3-16D2-42EE-8B57-D2CD6DA0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10000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D7E0EC"/>
                </a:solidFill>
                <a:latin typeface="Calibri"/>
                <a:ea typeface="Calibri"/>
                <a:cs typeface="Calibri"/>
              </a:rPr>
              <a:t>A working integrated marketplace with measurable forecasting value and clear next steps</a:t>
            </a:r>
          </a:p>
        </p:txBody>
      </p:sp>
    </p:spTree>
    <p:extLst>
      <p:ext uri="{BB962C8B-B14F-4D97-AF65-F5344CB8AC3E}">
        <p14:creationId xmlns:p14="http://schemas.microsoft.com/office/powerpoint/2010/main" val="40448329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0AE1D-614C-47A8-9246-6036AF2E4EE7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307830" y="30956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AC461-F77C-4ECA-8BB0-37405B3E96A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90410" y="30956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D6E42-B57F-46A4-8F4A-B9CD0014E80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72990" y="30956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E27DE-3D37-4200-A3D8-871764E982F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55570" y="30956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61B7B95-6B95-4B95-85F1-486311A3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718117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Project Summary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C8CB96F-688C-485C-86F0-C5FA55DD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95F6B1D-2D17-403C-BBE9-42499881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9DEFE-9B84-4D8E-9C4B-C7C3B789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98882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Problem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fragmented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4E9D9-E80F-405F-8D70-2B9EBF87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381250"/>
            <a:ext cx="198882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Approach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Agile + CRISP-DM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9C517-E8A7-43FD-A8C1-0B641D9D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2381250"/>
            <a:ext cx="198882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Solution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4 components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F47AA-89CE-408E-9F18-6A2C2C77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10" y="2381250"/>
            <a:ext cx="198882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Evidence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26/27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73178-A160-41D9-BF3E-67CF3716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381250"/>
            <a:ext cx="198882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Result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marketplace + forecasts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13EE9-37C5-41B9-A225-98684E89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6250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8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AgriMart joins transaction discovery and price intelligence in one cross-platform system</a:t>
            </a:r>
          </a:p>
        </p:txBody>
      </p:sp>
    </p:spTree>
    <p:extLst>
      <p:ext uri="{BB962C8B-B14F-4D97-AF65-F5344CB8AC3E}">
        <p14:creationId xmlns:p14="http://schemas.microsoft.com/office/powerpoint/2010/main" val="124087189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E311C3F-3D72-46C2-9388-3FDD0223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3575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Achievement of Objectives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F981109-43F0-4671-A964-A96E52AA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E672B67-A5D3-4C68-963B-684B776A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CF8E2-A89D-4CA2-97C3-B97B8569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Marketplace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51BA0-9375-4125-AEE4-5BBFEF25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04950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B3AF5-3E0E-4F97-BFEE-3AA9AF73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04950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41B9B-19EE-4ED0-8B37-FF761F31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3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Implemented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BE053-45F8-446F-BA5B-0250B3AF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Nearby 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D1E5C-952B-40AA-895D-6A65BA8B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00325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DE96D-F501-4684-B450-7282BDA0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00325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620051-B947-483A-AB2A-3F1DBCB5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24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3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Implemented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3E8257-0CA7-49DB-87AB-FEBF56EA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Price forecasts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D61DA-A9EC-4DD1-9750-32744107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95700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F2C3D4-1E13-4DC9-9C0B-E1724662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95700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084A4-1C80-45CF-8444-DAFB06C6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950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3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Implemented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BEC3D6-DC48-43ED-9CF8-7ECE6197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Availability forecast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8F661F-A360-44F9-8C95-D4958089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91075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39AF69-364A-40DF-99E0-EEFE4181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91075"/>
            <a:ext cx="135731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C28210-3CE8-4F4F-87CA-EA106BB9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148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350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B68432"/>
                </a:solidFill>
                <a:latin typeface="Calibri"/>
                <a:ea typeface="Calibri"/>
                <a:cs typeface="Calibri"/>
              </a:rPr>
              <a:t>Not implemented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8D23CC-3C74-4DB4-9157-1A0DE502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7687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Overall: the core marketplace and price-prediction objectives are delivered; availability prediction remains future work</a:t>
            </a:r>
          </a:p>
        </p:txBody>
      </p:sp>
    </p:spTree>
    <p:extLst>
      <p:ext uri="{BB962C8B-B14F-4D97-AF65-F5344CB8AC3E}">
        <p14:creationId xmlns:p14="http://schemas.microsoft.com/office/powerpoint/2010/main" val="19626949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518AF05-01DB-4B3F-97F7-6CAE9F2F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93560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Recommendations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0232448-B29D-47CE-AAF9-48A7FD9F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869A50A-3B3A-479B-ABED-ABF4B6F2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EAAB4-DFEB-4122-A508-E43AF5EC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6F87C-1C1E-4194-9B1C-CBB125E4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716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725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416C98"/>
                </a:solidFill>
                <a:latin typeface="Calibri"/>
                <a:ea typeface="Calibri"/>
                <a:cs typeface="Calibri"/>
              </a:rPr>
              <a:t>Refresh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31ACB-9E46-4785-A6F4-F6C91A22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955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Establish a current, continuous market-price feed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24C7B-082E-4C77-837A-056580C0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A610B-F5C4-40F9-BA2E-CD813A1F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5716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725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Validate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E7FE0-C21B-4E57-9A4F-29C43E50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955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Run task-based sessions with farmers and buyers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2DAEB-AC82-4C06-BFA1-F7416508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F4F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B3CA3-2F2E-447E-AFBD-6C4A3A7B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671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725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9A4F4F"/>
                </a:solidFill>
                <a:latin typeface="Calibri"/>
                <a:ea typeface="Calibri"/>
                <a:cs typeface="Calibri"/>
              </a:rPr>
              <a:t>Harden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09B479-D9C3-489E-B2E0-CDDAB5BC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910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Resolve upload-test timeout and standardize hosted storage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42906-58EC-4F3B-B090-6CF2495E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671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688746-DB66-4EC3-9D6B-5ECAA463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671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725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68432"/>
                </a:solidFill>
                <a:latin typeface="Calibri"/>
                <a:ea typeface="Calibri"/>
                <a:cs typeface="Calibri"/>
              </a:rPr>
              <a:t>Monitor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9F2794-FF15-48FF-A94F-F540B06D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910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Track error by commodity and flag stale series</a:t>
            </a:r>
          </a:p>
        </p:txBody>
      </p:sp>
    </p:spTree>
    <p:extLst>
      <p:ext uri="{BB962C8B-B14F-4D97-AF65-F5344CB8AC3E}">
        <p14:creationId xmlns:p14="http://schemas.microsoft.com/office/powerpoint/2010/main" val="148941061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F5F26-456D-4A96-9110-E10AB95B96C7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305925" y="30956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864C88-938F-4EFA-AA23-921C51737EA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86600" y="30956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4AECC-C4E7-4AF0-B12D-92CA9EE0CF6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67275" y="30956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F767A8-68A8-4308-8762-6A7F1122BEB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47950" y="30956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77579FF-2F1C-4432-906D-6CB3DB09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03073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Future Work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0E445F0-B6F6-4F16-B258-3196CE87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78CAD70-F1F2-42A5-90C8-EF4540AA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48182-4BA5-47BF-9F29-342A8775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19812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Fresh data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6CA84-59F9-4E00-B5E2-152CD432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428875"/>
            <a:ext cx="19812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Availability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D4B55-6DA4-4EAF-9A38-D110061D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28875"/>
            <a:ext cx="19812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Local languages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01EAE-8B14-47E0-BF47-1471B8AB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28875"/>
            <a:ext cx="19812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Payments + delivery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DCEE2-859F-448F-AD18-9E59EBCF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28875"/>
            <a:ext cx="19812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Production analytics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139F73-E8B4-49CF-8E03-70D24596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24375"/>
            <a:ext cx="7239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Priority order</a:t>
            </a:r>
          </a:p>
          <a:p xmlns:a="http://schemas.openxmlformats.org/drawingml/2006/main">
            <a:pPr algn="ctr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Data freshness → availability forecasting → field validation → commercial expansion</a:t>
            </a:r>
          </a:p>
        </p:txBody>
      </p:sp>
    </p:spTree>
    <p:extLst>
      <p:ext uri="{BB962C8B-B14F-4D97-AF65-F5344CB8AC3E}">
        <p14:creationId xmlns:p14="http://schemas.microsoft.com/office/powerpoint/2010/main" val="149146037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CBF5526-BC39-4419-8C18-4D9B0531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3927793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Questions and Discussion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6634B1-28EF-4EB5-AA94-2D93BB3B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5114937-1D59-433C-A26D-AC2C6D74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F0C38-95AB-49AE-AEF2-5EBE1F49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6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6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FEDD0-4661-4317-A205-D946D995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28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Thank you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813DC-7AEC-4570-BD55-089398ED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76500"/>
            <a:ext cx="609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2175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416C98"/>
                </a:solidFill>
                <a:latin typeface="Calibri"/>
                <a:ea typeface="Calibri"/>
                <a:cs typeface="Calibri"/>
              </a:rPr>
              <a:t>Mobile and Web Application for</a:t>
            </a:r>
          </a:p>
          <a:p xmlns:a="http://schemas.openxmlformats.org/drawingml/2006/main">
            <a:pPr algn="ctr">
              <a:defRPr sz="2175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416C98"/>
                </a:solidFill>
                <a:latin typeface="Calibri"/>
                <a:ea typeface="Calibri"/>
                <a:cs typeface="Calibri"/>
              </a:rPr>
              <a:t>Agricultural Marketplace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F1E93-8E5D-446D-A4F3-5E86B54E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6096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9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Questions and discussion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7A31D-16B6-4A3F-95D7-71FCEB9B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4825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42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MWALE Jonathan • 2021512967</a:t>
            </a:r>
          </a:p>
        </p:txBody>
      </p:sp>
    </p:spTree>
    <p:extLst>
      <p:ext uri="{BB962C8B-B14F-4D97-AF65-F5344CB8AC3E}">
        <p14:creationId xmlns:p14="http://schemas.microsoft.com/office/powerpoint/2010/main" val="39141892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2026-10-17T19:48:26.5520000Z</dcterms:created>
  <dcterms:modified xsi:type="dcterms:W3CDTF">2026-10-17T19:48:26.5520000Z</dcterms:modified>
</coreProperties>
</file>